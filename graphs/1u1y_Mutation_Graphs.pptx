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1" r:id="rId3"/>
    <p:sldId id="280" r:id="rId4"/>
    <p:sldId id="282" r:id="rId5"/>
    <p:sldId id="283" r:id="rId6"/>
    <p:sldId id="284" r:id="rId7"/>
    <p:sldId id="285" r:id="rId8"/>
    <p:sldId id="279" r:id="rId9"/>
    <p:sldId id="288" r:id="rId10"/>
    <p:sldId id="287" r:id="rId11"/>
    <p:sldId id="289" r:id="rId12"/>
    <p:sldId id="29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75"/>
    <p:restoredTop sz="94729"/>
  </p:normalViewPr>
  <p:slideViewPr>
    <p:cSldViewPr snapToGrid="0">
      <p:cViewPr varScale="1">
        <p:scale>
          <a:sx n="112" d="100"/>
          <a:sy n="112" d="100"/>
        </p:scale>
        <p:origin x="10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CA03C-B3C3-71FA-0B9F-5411268EB3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AFEE6B-925E-AFA7-7991-44863471A0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749080-B4C1-1EB4-240B-9430F06B9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F631A-35DE-0A43-834C-15700BBC36C6}" type="datetimeFigureOut">
              <a:rPr lang="en-US" smtClean="0"/>
              <a:t>5/28/24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8A0F46-FF99-AA5A-1755-1085BD792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04673D-474E-645A-912D-1E757B32C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003D1-D7F2-A946-88B5-BA010ED16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193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925D7-0845-52A0-78EF-6EA4F8D57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10BCD-598C-8B10-E424-BDCCA9ED2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9C5D9-9279-4115-8662-585C23675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F631A-35DE-0A43-834C-15700BBC36C6}" type="datetimeFigureOut">
              <a:rPr lang="en-US" smtClean="0"/>
              <a:t>5/28/24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4884C-4961-AFAD-E9CE-16F979540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6F7345-5281-920B-A6A1-F2B693DE5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003D1-D7F2-A946-88B5-BA010ED16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260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86830-309D-3B4C-FE96-C9DED18B6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95118C-0399-4E6F-4357-9096E08455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502D7-5066-B82D-4BFF-444BD4FA3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F631A-35DE-0A43-834C-15700BBC36C6}" type="datetimeFigureOut">
              <a:rPr lang="en-US" smtClean="0"/>
              <a:t>5/28/24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81EA74-9FE7-BBC3-3C8D-A6A7470DF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3E3BD3-901D-B3F8-E508-C27B657FF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003D1-D7F2-A946-88B5-BA010ED16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996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1E452-DE33-EB7E-4542-A054DFBE0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852E0-3241-050C-4B09-30196E4351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705A96-B9E3-1314-B6BD-F39BB9FD9A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621E77-7302-8768-B3C3-D3365AE77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F631A-35DE-0A43-834C-15700BBC36C6}" type="datetimeFigureOut">
              <a:rPr lang="en-US" smtClean="0"/>
              <a:t>5/28/24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75BC0C-47F0-23F7-CE70-FDBE90022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B043DC-D8A7-A6C5-A2DD-4C2F79002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003D1-D7F2-A946-88B5-BA010ED16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101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7CFF4-E61D-9378-728B-F70D790C8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7D9190-09D5-E2B4-EDCC-89312D3882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DFDDF2-B552-6BAE-17BB-C38713FECB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5F20DF-33AA-83E1-46EB-8A324568B5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AAF55-04C7-0869-FD99-9758AF48F7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B042C4-AF7C-B89C-B79C-253670B07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F631A-35DE-0A43-834C-15700BBC36C6}" type="datetimeFigureOut">
              <a:rPr lang="en-US" smtClean="0"/>
              <a:t>5/28/24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66DC1A-8E4C-2FAB-5E12-FB5FAFDBE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26E7FC-5838-CE6D-2D8F-A6FFD21F4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003D1-D7F2-A946-88B5-BA010ED16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79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20037-9424-713D-B691-19A58AECA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6863A9-BAF5-FE83-1AE2-A9EAE64CE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F631A-35DE-0A43-834C-15700BBC36C6}" type="datetimeFigureOut">
              <a:rPr lang="en-US" smtClean="0"/>
              <a:t>5/28/24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A62172-EE01-4FE8-4527-433C98489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F2B3C2-8C34-3691-2AE2-B3A8C41E5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003D1-D7F2-A946-88B5-BA010ED16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818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168213-CD8F-F87D-361F-AD8BC9396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F631A-35DE-0A43-834C-15700BBC36C6}" type="datetimeFigureOut">
              <a:rPr lang="en-US" smtClean="0"/>
              <a:t>5/28/24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79F68C-ED56-31B1-1FDF-0F71DDDEB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82BF2F-62A8-D6B3-A937-03DAD9CF2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003D1-D7F2-A946-88B5-BA010ED16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209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2C3C0-4672-7A3F-E916-B3FB4B187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FB053-EAF1-77DE-BE82-0D71DE75B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5023B6-10E9-59E1-E6A9-F51153948F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89525-8C48-00BD-6813-7307E5EA6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F631A-35DE-0A43-834C-15700BBC36C6}" type="datetimeFigureOut">
              <a:rPr lang="en-US" smtClean="0"/>
              <a:t>5/28/24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3E7FC9-90DB-6BB7-AF2E-D8B585DE2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609F5A-72CD-8A95-27FE-EBD538DDB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003D1-D7F2-A946-88B5-BA010ED16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208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88092-2225-6877-7AF0-1C3E4B429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72BA1C-E563-D088-1D37-117AFFA0FB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D6B5FA-4A54-ED27-D40F-429D0FB41E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958407-CB0E-205B-B180-5DE24E628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F631A-35DE-0A43-834C-15700BBC36C6}" type="datetimeFigureOut">
              <a:rPr lang="en-US" smtClean="0"/>
              <a:t>5/28/24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62553D-1710-6EB0-B7CF-2678C5147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312E3E-1FBD-AD74-F28D-4BF18DC55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003D1-D7F2-A946-88B5-BA010ED16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788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94871-F1B9-4156-61E4-E8CF9F157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B27041-8353-EB8D-3487-E5862D3BAB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667A04-43CC-C4EA-2F3B-32EF03A41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F631A-35DE-0A43-834C-15700BBC36C6}" type="datetimeFigureOut">
              <a:rPr lang="en-US" smtClean="0"/>
              <a:t>5/28/24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12AF96-7746-A531-4C8A-95FA5193A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01299-F38A-907D-4E5A-965ED61C3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003D1-D7F2-A946-88B5-BA010ED16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746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10AE33-62B0-8945-E50E-1CF8915AE1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90428B-786D-87B8-F4CD-065DE04419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11514-08DC-0DA9-A19E-4864CE2F1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F631A-35DE-0A43-834C-15700BBC36C6}" type="datetimeFigureOut">
              <a:rPr lang="en-US" smtClean="0"/>
              <a:t>5/28/24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73AD8F-9827-8112-2EFA-63F76EE90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CCD05-B471-BFC6-1078-2347C7F36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003D1-D7F2-A946-88B5-BA010ED16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049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410DE9-716E-3992-FB1C-5189DF218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EFF1B-5B82-C859-3D00-98D840C7DC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2DCF19-8A41-C18C-3F86-82E8E81574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1F631A-35DE-0A43-834C-15700BBC36C6}" type="datetimeFigureOut">
              <a:rPr lang="en-US" smtClean="0"/>
              <a:t>5/28/24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56FF4-AD97-1E5E-1E1B-3D9F656196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A21BE7-3847-1FFE-CC95-1C194C981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B003D1-D7F2-A946-88B5-BA010ED16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068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C01B0-8284-F8C7-2C44-76E73B3FDB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1u1y - RNA Complex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D4AAC3-E337-A006-1AE9-383F83B58E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465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AB852-1ACC-74C7-6228-9D2345037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1u1y Phi </a:t>
            </a:r>
            <a:r>
              <a:rPr lang="en-US" dirty="0"/>
              <a:t>&amp; Gamma Graphs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05CE69-AD9E-B41F-3C2D-429C7D534E7E}"/>
              </a:ext>
            </a:extLst>
          </p:cNvPr>
          <p:cNvSpPr txBox="1"/>
          <p:nvPr/>
        </p:nvSpPr>
        <p:spPr>
          <a:xfrm>
            <a:off x="741872" y="2251494"/>
            <a:ext cx="2539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Gamma Randomization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EB601B-F26A-FA8B-BB61-73D43C5F55B0}"/>
              </a:ext>
            </a:extLst>
          </p:cNvPr>
          <p:cNvSpPr txBox="1"/>
          <p:nvPr/>
        </p:nvSpPr>
        <p:spPr>
          <a:xfrm>
            <a:off x="4548116" y="2251494"/>
            <a:ext cx="1342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Phis Native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439339-BB0C-1909-D306-569CB9330556}"/>
              </a:ext>
            </a:extLst>
          </p:cNvPr>
          <p:cNvSpPr txBox="1"/>
          <p:nvPr/>
        </p:nvSpPr>
        <p:spPr>
          <a:xfrm>
            <a:off x="8582403" y="2251494"/>
            <a:ext cx="1288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Phis Decoy</a:t>
            </a:r>
          </a:p>
        </p:txBody>
      </p:sp>
    </p:spTree>
    <p:extLst>
      <p:ext uri="{BB962C8B-B14F-4D97-AF65-F5344CB8AC3E}">
        <p14:creationId xmlns:p14="http://schemas.microsoft.com/office/powerpoint/2010/main" val="1584959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1U1Y(AS)_Single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0.080 </a:t>
            </a:r>
          </a:p>
          <a:p>
            <a:r>
              <a:rPr lang="en-US" dirty="0"/>
              <a:t>Spearman rank correlation coefficient: 0.014 </a:t>
            </a:r>
          </a:p>
          <a:p>
            <a:r>
              <a:rPr lang="en-US" dirty="0"/>
              <a:t>Coefficient of Determination (R^2): 0.006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944658D-14AD-C8EA-EEFC-2620A18939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687671"/>
            <a:ext cx="3864430" cy="274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3E96989D-5FD4-7ED8-8514-C993C9A068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3785" y="3687670"/>
            <a:ext cx="3864430" cy="274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FCD80598-1091-B4DB-37A9-0E5C6B3A16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4148" y="3687670"/>
            <a:ext cx="3864430" cy="274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3644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1U1Y(AS)_Double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-0.095 </a:t>
            </a:r>
          </a:p>
          <a:p>
            <a:r>
              <a:rPr lang="en-US" dirty="0"/>
              <a:t>Spearman rank correlation coefficient: -0.088 </a:t>
            </a:r>
          </a:p>
          <a:p>
            <a:r>
              <a:rPr lang="en-US" dirty="0"/>
              <a:t>Coefficient of Determination (R^2): 0.009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0A47B3D9-CFEE-2EA3-5D43-C5B957D411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3" y="3248597"/>
            <a:ext cx="4006850" cy="2848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37B957B6-2881-BDA9-E049-806EA9CCAD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2575" y="3248597"/>
            <a:ext cx="4006850" cy="2848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AB807599-6EA3-3FAB-4C55-1BDAC0C8B8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5150" y="3248597"/>
            <a:ext cx="4006850" cy="2848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9541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1U1Y(AS)_Triple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-0.266 </a:t>
            </a:r>
          </a:p>
          <a:p>
            <a:r>
              <a:rPr lang="en-US" dirty="0"/>
              <a:t>Spearman rank correlation coefficient: -0.240 </a:t>
            </a:r>
          </a:p>
          <a:p>
            <a:r>
              <a:rPr lang="en-US" dirty="0"/>
              <a:t>Coefficient of Determination (R^2): 0.071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8FE19EA1-CEA3-D28C-E05C-45C731401E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695" y="3521236"/>
            <a:ext cx="3819875" cy="2715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50B35A09-CC0B-1F43-E24B-755BA4F953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6062" y="3521235"/>
            <a:ext cx="3819875" cy="2715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91C6D656-58C4-F8CF-AE3F-E534384465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0700" y="3521234"/>
            <a:ext cx="3819875" cy="2715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5890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1U1Y(AS)_</a:t>
            </a:r>
            <a:r>
              <a:rPr lang="en-US" dirty="0" err="1"/>
              <a:t>Quadruble</a:t>
            </a:r>
            <a:r>
              <a:rPr lang="en-US" dirty="0"/>
              <a:t>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-0.413 </a:t>
            </a:r>
          </a:p>
          <a:p>
            <a:r>
              <a:rPr lang="en-US" dirty="0"/>
              <a:t>Spearman rank correlation coefficient: -0.512 </a:t>
            </a:r>
          </a:p>
          <a:p>
            <a:r>
              <a:rPr lang="en-US" dirty="0"/>
              <a:t>Coefficient of Determination (R^2): 0.171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A3578EA7-9361-AA36-4DCC-D8EA5BEA96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564" y="3526971"/>
            <a:ext cx="3695875" cy="2614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904F1669-43E1-156C-0028-BC7B647EE7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8688" y="3526971"/>
            <a:ext cx="3695875" cy="2614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>
            <a:extLst>
              <a:ext uri="{FF2B5EF4-FFF2-40B4-BE49-F238E27FC236}">
                <a16:creationId xmlns:a16="http://schemas.microsoft.com/office/drawing/2014/main" id="{44024F7C-49E9-23FA-8189-A99EB065EB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1564" y="3526971"/>
            <a:ext cx="3695875" cy="2614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8272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1U1Y(AS)_Quintuple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-0.520 </a:t>
            </a:r>
          </a:p>
          <a:p>
            <a:r>
              <a:rPr lang="en-US" dirty="0"/>
              <a:t>Spearman rank correlation coefficient: -0.377 </a:t>
            </a:r>
          </a:p>
          <a:p>
            <a:r>
              <a:rPr lang="en-US" dirty="0"/>
              <a:t>Coefficient of Determination (R^2): 0.271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2A3E2C2A-DBD1-FEA0-3105-C5410A0EA3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464" y="3285847"/>
            <a:ext cx="3821793" cy="2717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719E6DA0-B87A-2AA0-1FF9-391093491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5103" y="3285847"/>
            <a:ext cx="3821794" cy="2717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>
            <a:extLst>
              <a:ext uri="{FF2B5EF4-FFF2-40B4-BE49-F238E27FC236}">
                <a16:creationId xmlns:a16="http://schemas.microsoft.com/office/drawing/2014/main" id="{DA6CE9B5-3E31-A1D1-9893-D19D3785BC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6897" y="3285847"/>
            <a:ext cx="3821793" cy="2717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6876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2BU1+1U1Y_Single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0.086 </a:t>
            </a:r>
          </a:p>
          <a:p>
            <a:r>
              <a:rPr lang="en-US" dirty="0"/>
              <a:t>Spearman rank correlation coefficient: -0.058 </a:t>
            </a:r>
          </a:p>
          <a:p>
            <a:r>
              <a:rPr lang="en-US" dirty="0"/>
              <a:t>Coefficient of Determination (R^2): 0.007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7947B81-3496-8F12-3210-961F9D2484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465" y="3235636"/>
            <a:ext cx="3814862" cy="2712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903FF1BE-CABE-E52A-5E36-E9D66EB380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8569" y="3235636"/>
            <a:ext cx="3814861" cy="2712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5AA16F07-0C2B-4E11-751D-85C2525B5E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7672" y="3235636"/>
            <a:ext cx="3814861" cy="2712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1055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2BU1+1U1Y_Double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944671" y="1690688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0.015 </a:t>
            </a:r>
          </a:p>
          <a:p>
            <a:r>
              <a:rPr lang="en-US" dirty="0"/>
              <a:t>Spearman rank correlation coefficient: 0.007 </a:t>
            </a:r>
          </a:p>
          <a:p>
            <a:r>
              <a:rPr lang="en-US" dirty="0"/>
              <a:t>Coefficient of Determination (R^2): 0.000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69F2CB0C-7980-098C-08D3-FFF188C08B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245" y="3345818"/>
            <a:ext cx="3676170" cy="2613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>
            <a:extLst>
              <a:ext uri="{FF2B5EF4-FFF2-40B4-BE49-F238E27FC236}">
                <a16:creationId xmlns:a16="http://schemas.microsoft.com/office/drawing/2014/main" id="{508BEF57-EAFA-BF39-1EF3-42729B62E1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7915" y="3345818"/>
            <a:ext cx="3676170" cy="2613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>
            <a:extLst>
              <a:ext uri="{FF2B5EF4-FFF2-40B4-BE49-F238E27FC236}">
                <a16:creationId xmlns:a16="http://schemas.microsoft.com/office/drawing/2014/main" id="{D97757E7-2922-84A4-A804-3AA648FA5D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4085" y="3345818"/>
            <a:ext cx="3676171" cy="2613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2741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2BU1+1U1Y_Triple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-0.053 </a:t>
            </a:r>
          </a:p>
          <a:p>
            <a:r>
              <a:rPr lang="en-US" dirty="0"/>
              <a:t>Spearman rank correlation coefficient: -0.103 </a:t>
            </a:r>
          </a:p>
          <a:p>
            <a:r>
              <a:rPr lang="en-US" dirty="0"/>
              <a:t>Coefficient of Determination (R^2): 0.003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3109AC-7977-A4B1-6B64-41577FF050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508" y="3517169"/>
            <a:ext cx="3412714" cy="2426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E372BD6-4EEC-3C54-EB38-AB504BADCB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2796" y="3517169"/>
            <a:ext cx="3412716" cy="2426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97DB2025-4725-3AEE-5704-282B8A40D8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1086" y="3517169"/>
            <a:ext cx="3412714" cy="2426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36476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2BU1+1U1Y_Quadruple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-0.148 </a:t>
            </a:r>
          </a:p>
          <a:p>
            <a:r>
              <a:rPr lang="en-US" dirty="0"/>
              <a:t>Spearman rank correlation coefficient: -0.133 </a:t>
            </a:r>
          </a:p>
          <a:p>
            <a:r>
              <a:rPr lang="en-US" dirty="0"/>
              <a:t>Coefficient of Determination (R^2): 0.022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C816E385-B39F-F376-6090-2446630447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104" y="3797331"/>
            <a:ext cx="3410591" cy="2412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id="{25C34077-E8D6-1449-BED1-D11F8645A7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0704" y="3797332"/>
            <a:ext cx="3410591" cy="2412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>
            <a:extLst>
              <a:ext uri="{FF2B5EF4-FFF2-40B4-BE49-F238E27FC236}">
                <a16:creationId xmlns:a16="http://schemas.microsoft.com/office/drawing/2014/main" id="{EE5CC55D-DABF-6E37-83D5-A5D523DB26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236" y="3797331"/>
            <a:ext cx="3410591" cy="2412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02213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2BU1+1U1Y_Quintuple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-0.837 </a:t>
            </a:r>
          </a:p>
          <a:p>
            <a:r>
              <a:rPr lang="en-US" dirty="0"/>
              <a:t>Spearman rank correlation coefficient: -0.738 </a:t>
            </a:r>
          </a:p>
          <a:p>
            <a:r>
              <a:rPr lang="en-US" dirty="0"/>
              <a:t>Coefficient of Determination (R^2): 0.700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37C400EC-86ED-381E-9CF9-5267B4B8B2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24" y="3597905"/>
            <a:ext cx="3676171" cy="2613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7B4FA37C-E5F3-4309-6690-F8F379ACED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7914" y="3597905"/>
            <a:ext cx="3676171" cy="2613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>
            <a:extLst>
              <a:ext uri="{FF2B5EF4-FFF2-40B4-BE49-F238E27FC236}">
                <a16:creationId xmlns:a16="http://schemas.microsoft.com/office/drawing/2014/main" id="{0F6493CF-91CB-D6A1-419E-DD1E62A18C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1696" y="3597905"/>
            <a:ext cx="3676171" cy="2613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3722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19925</TotalTime>
  <Words>320</Words>
  <Application>Microsoft Macintosh PowerPoint</Application>
  <PresentationFormat>Widescreen</PresentationFormat>
  <Paragraphs>45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1u1y - RNA Complex</vt:lpstr>
      <vt:lpstr>1u1y Phi &amp; Gamma Graphs</vt:lpstr>
      <vt:lpstr>1U1Y(AS)_Single Mutation – PHI 9.5</vt:lpstr>
      <vt:lpstr>1U1Y(AS)_Double Mutation – PHI 9.5</vt:lpstr>
      <vt:lpstr>1U1Y(AS)_Triple Mutation – PHI 9.5</vt:lpstr>
      <vt:lpstr>1U1Y(AS)_Quadruble Mutation – PHI 9.5</vt:lpstr>
      <vt:lpstr>1U1Y(AS)_Quintuple Mutation – PHI 9.5</vt:lpstr>
      <vt:lpstr>2BU1+1U1Y_Single Mutation – PHI 9.5</vt:lpstr>
      <vt:lpstr>2BU1+1U1Y_Double Mutation – PHI 9.5</vt:lpstr>
      <vt:lpstr>2BU1+1U1Y_Triple Mutation – PHI 9.5</vt:lpstr>
      <vt:lpstr>2BU1+1U1Y_Quadruple Mutation – PHI 9.5</vt:lpstr>
      <vt:lpstr>2BU1+1U1Y_Quintuple Mutation – PHI 9.5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1u1y - RNA Complex</dc:title>
  <dc:creator>Eduardo Cisneros</dc:creator>
  <cp:lastModifiedBy>Eduardo Cisneros</cp:lastModifiedBy>
  <cp:revision>2</cp:revision>
  <dcterms:created xsi:type="dcterms:W3CDTF">2024-05-23T18:03:25Z</dcterms:created>
  <dcterms:modified xsi:type="dcterms:W3CDTF">2024-06-06T15:58:14Z</dcterms:modified>
</cp:coreProperties>
</file>