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8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3"/>
    <p:restoredTop sz="94741"/>
  </p:normalViewPr>
  <p:slideViewPr>
    <p:cSldViewPr snapToGrid="0">
      <p:cViewPr varScale="1">
        <p:scale>
          <a:sx n="107" d="100"/>
          <a:sy n="107" d="100"/>
        </p:scale>
        <p:origin x="16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duardo/rna_protein_project/Buenrostro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RNA</a:t>
            </a:r>
            <a:r>
              <a:rPr lang="en-US" baseline="0"/>
              <a:t> Correlation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'-CCCAUGU &amp; No Max'!$N$1</c:f>
              <c:strCache>
                <c:ptCount val="1"/>
                <c:pt idx="0">
                  <c:v>Pearson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'-CCCAUGU &amp; No Max'!$M$2:$M$8</c:f>
              <c:strCache>
                <c:ptCount val="7"/>
                <c:pt idx="0">
                  <c:v>8.0 PHI</c:v>
                </c:pt>
                <c:pt idx="1">
                  <c:v>9.5 PHI</c:v>
                </c:pt>
                <c:pt idx="2">
                  <c:v>11.0 PHI</c:v>
                </c:pt>
                <c:pt idx="3">
                  <c:v>12.5 PHI</c:v>
                </c:pt>
                <c:pt idx="4">
                  <c:v>14.0 PHI</c:v>
                </c:pt>
                <c:pt idx="5">
                  <c:v>15.5 PHI</c:v>
                </c:pt>
                <c:pt idx="6">
                  <c:v>17.0 PHI</c:v>
                </c:pt>
              </c:strCache>
            </c:strRef>
          </c:cat>
          <c:val>
            <c:numRef>
              <c:f>'-CCCAUGU &amp; No Max'!$N$2:$N$8</c:f>
              <c:numCache>
                <c:formatCode>General</c:formatCode>
                <c:ptCount val="7"/>
                <c:pt idx="0">
                  <c:v>0.10100000000000001</c:v>
                </c:pt>
                <c:pt idx="1">
                  <c:v>0.18099999999999999</c:v>
                </c:pt>
                <c:pt idx="2">
                  <c:v>0.16</c:v>
                </c:pt>
                <c:pt idx="3">
                  <c:v>0.16800000000000001</c:v>
                </c:pt>
                <c:pt idx="4">
                  <c:v>0.14799999999999999</c:v>
                </c:pt>
                <c:pt idx="5">
                  <c:v>0.184</c:v>
                </c:pt>
                <c:pt idx="6">
                  <c:v>0.16200000000000001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A2-3448-95F5-412ADE3A88C2}"/>
            </c:ext>
          </c:extLst>
        </c:ser>
        <c:ser>
          <c:idx val="1"/>
          <c:order val="1"/>
          <c:tx>
            <c:strRef>
              <c:f>'-CCCAUGU &amp; No Max'!$O$1</c:f>
              <c:strCache>
                <c:ptCount val="1"/>
                <c:pt idx="0">
                  <c:v>Spearman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'-CCCAUGU &amp; No Max'!$M$2:$M$8</c:f>
              <c:strCache>
                <c:ptCount val="7"/>
                <c:pt idx="0">
                  <c:v>8.0 PHI</c:v>
                </c:pt>
                <c:pt idx="1">
                  <c:v>9.5 PHI</c:v>
                </c:pt>
                <c:pt idx="2">
                  <c:v>11.0 PHI</c:v>
                </c:pt>
                <c:pt idx="3">
                  <c:v>12.5 PHI</c:v>
                </c:pt>
                <c:pt idx="4">
                  <c:v>14.0 PHI</c:v>
                </c:pt>
                <c:pt idx="5">
                  <c:v>15.5 PHI</c:v>
                </c:pt>
                <c:pt idx="6">
                  <c:v>17.0 PHI</c:v>
                </c:pt>
              </c:strCache>
            </c:strRef>
          </c:cat>
          <c:val>
            <c:numRef>
              <c:f>'-CCCAUGU &amp; No Max'!$O$2:$O$8</c:f>
              <c:numCache>
                <c:formatCode>General</c:formatCode>
                <c:ptCount val="7"/>
                <c:pt idx="0">
                  <c:v>0.122</c:v>
                </c:pt>
                <c:pt idx="1">
                  <c:v>0.40200000000000002</c:v>
                </c:pt>
                <c:pt idx="2">
                  <c:v>0.28499999999999998</c:v>
                </c:pt>
                <c:pt idx="3">
                  <c:v>0.28899999999999998</c:v>
                </c:pt>
                <c:pt idx="4">
                  <c:v>0.318</c:v>
                </c:pt>
                <c:pt idx="5">
                  <c:v>0.33700000000000002</c:v>
                </c:pt>
                <c:pt idx="6">
                  <c:v>0.26200000000000001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2-3448-95F5-412ADE3A88C2}"/>
            </c:ext>
          </c:extLst>
        </c:ser>
        <c:ser>
          <c:idx val="2"/>
          <c:order val="2"/>
          <c:tx>
            <c:strRef>
              <c:f>'-CCCAUGU &amp; No Max'!$P$1</c:f>
              <c:strCache>
                <c:ptCount val="1"/>
                <c:pt idx="0">
                  <c:v>R^2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'-CCCAUGU &amp; No Max'!$M$2:$M$8</c:f>
              <c:strCache>
                <c:ptCount val="7"/>
                <c:pt idx="0">
                  <c:v>8.0 PHI</c:v>
                </c:pt>
                <c:pt idx="1">
                  <c:v>9.5 PHI</c:v>
                </c:pt>
                <c:pt idx="2">
                  <c:v>11.0 PHI</c:v>
                </c:pt>
                <c:pt idx="3">
                  <c:v>12.5 PHI</c:v>
                </c:pt>
                <c:pt idx="4">
                  <c:v>14.0 PHI</c:v>
                </c:pt>
                <c:pt idx="5">
                  <c:v>15.5 PHI</c:v>
                </c:pt>
                <c:pt idx="6">
                  <c:v>17.0 PHI</c:v>
                </c:pt>
              </c:strCache>
            </c:strRef>
          </c:cat>
          <c:val>
            <c:numRef>
              <c:f>'-CCCAUGU &amp; No Max'!$P$2:$P$8</c:f>
              <c:numCache>
                <c:formatCode>General</c:formatCode>
                <c:ptCount val="7"/>
                <c:pt idx="0">
                  <c:v>0.01</c:v>
                </c:pt>
                <c:pt idx="1">
                  <c:v>3.3000000000000002E-2</c:v>
                </c:pt>
                <c:pt idx="2">
                  <c:v>2.5999999999999999E-2</c:v>
                </c:pt>
                <c:pt idx="3">
                  <c:v>2.8000000000000001E-2</c:v>
                </c:pt>
                <c:pt idx="4">
                  <c:v>2.1999999999999999E-2</c:v>
                </c:pt>
                <c:pt idx="5">
                  <c:v>3.4000000000000002E-2</c:v>
                </c:pt>
                <c:pt idx="6">
                  <c:v>2.5999999999999999E-2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A2-3448-95F5-412ADE3A8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02785936"/>
        <c:axId val="1383906095"/>
      </c:lineChart>
      <c:catAx>
        <c:axId val="1402785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906095"/>
        <c:crosses val="autoZero"/>
        <c:auto val="1"/>
        <c:lblAlgn val="ctr"/>
        <c:lblOffset val="100"/>
        <c:noMultiLvlLbl val="0"/>
      </c:catAx>
      <c:valAx>
        <c:axId val="1383906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2785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4005-E61C-056F-50EE-4E03C19E7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A815B-1919-94A3-49BB-B9AAAE190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7823F-CB56-B05B-802A-1DCA2A8B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C518-4349-5C11-59BC-8E3A04B0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BDFF0-1BDD-4823-E67D-CD237DFA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1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3786-6A5E-5575-C7CE-FF0FD144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B2433-517B-3EA8-D759-1165BBEDF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B563-8D8D-5948-9FB5-1F03A41C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6152-211A-C823-B29E-3F9F6F9F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C7F3-ABD6-D567-2F5B-385F3E31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4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7B56-ACBF-068E-02B0-DEC473B0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CC2BF-1415-7FAF-9D94-E9FD3E7A8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36E50-6C5D-64F7-23C6-1CCE25CC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72572-F003-C614-779F-49A63F49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0638B-9DAD-4BC2-B2A2-13322F2C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6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B149-1EFA-ADF3-8875-E94BE4B29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849B-EA91-07F6-774A-E8290F7A8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E7244-F107-A060-68EA-6B42FBC70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66E72-F756-9950-7149-C2DA7560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DA5CC-651D-167F-8159-2E04F3E1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1969D-E484-AF54-3ADE-FC1FD40A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43A3-F1A4-FA8C-6893-82CF7BAF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A394A-97B1-143D-CDC1-8BC7F1913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73ED3-71CC-2DDB-E172-27718F7A3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16863-E019-4FA0-C085-9D4AC84F8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5C232-D6BC-8253-B519-19ACB6622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FDD8B-EC7C-3DFE-0D76-2FEA8129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FA6400-9165-916F-B1CE-CAC1EDF6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74874-34F1-2263-F170-1E23DEFD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2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B2CB-6859-93C9-24DB-605E5815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E05B7-7556-7A19-0953-BC44AE49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84EA0-AFA6-161D-951F-1EB34EC8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3D989-96C8-81C0-449B-C02C8434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BD5CC-0315-9480-8A19-9F2B8501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F0189-3E56-40D7-19FB-05229B92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2FFF-7B69-1502-6055-5819E442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EEF84-0629-BAFA-091D-C1E54DC9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B1AF2-B1CF-EF4A-271D-809C7D988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33AE1-6471-45DD-C1F4-E067C90A8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4E88B-AE9A-3D1C-8C02-FD9513FE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0CD6D-4BD4-0520-4A37-E6FE0355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49C3F-3499-1DE8-FC32-1294BA78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2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CA14-C087-19B9-973C-D61E5A66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5BF4B-EA31-467B-6577-81A0BEB00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8CC15-78AA-B697-CCAE-AA1C32674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EE32D-852F-7CB9-C908-722F928D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6DC70-98B8-FAA4-93D7-45DA67A4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9C6DE-2C9C-F7E7-3ECA-970D1455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7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ACC6-9E5E-6D8D-EC8D-48957419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82CAC-0383-E8DA-B8AF-FBE763DCD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C0AE-FF3F-33AF-86A8-2C040B8E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C0D0B-3AD0-BBAC-80E4-A9B01FD9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6C66A-5359-035C-79B6-051294A4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0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45389-B26F-20EA-B5E0-14FAA97B4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980A2-3190-AAB0-4C7D-DE3827BB3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CC50E-D501-3501-479D-E2097D67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C1F0-8752-07C8-DB2F-A54927BA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DDEA7-13F2-2D06-073A-6AB67ED7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8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57C71-E979-4FDC-1754-6004D67AD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093BD-0695-446E-9238-9E3F64B07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E544B-A60F-4C1F-294B-8A3157607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A9E20-4433-FE47-B764-5F8407B8DD04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62A3A-CDC5-DFC0-8E2F-26DAFEEC1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B6BDE-5560-3E29-B895-3D587B277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5DA94-F587-B248-82A5-3519139E7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1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559B-098B-CA04-88A4-BCF69D753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RNA Correlation Graphs</a:t>
            </a:r>
          </a:p>
        </p:txBody>
      </p:sp>
    </p:spTree>
    <p:extLst>
      <p:ext uri="{BB962C8B-B14F-4D97-AF65-F5344CB8AC3E}">
        <p14:creationId xmlns:p14="http://schemas.microsoft.com/office/powerpoint/2010/main" val="115401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3B609-4C1A-61E7-F1D9-6A5C3632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 Correlation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C14E98B-8A81-2F07-B402-EF5D8613A7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815334"/>
              </p:ext>
            </p:extLst>
          </p:nvPr>
        </p:nvGraphicFramePr>
        <p:xfrm>
          <a:off x="1881744" y="1690688"/>
          <a:ext cx="8428512" cy="4877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339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8AAF7-9A4E-5A9F-5E25-0D626AA4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PHI: 8.0</a:t>
            </a:r>
          </a:p>
        </p:txBody>
      </p:sp>
      <p:pic>
        <p:nvPicPr>
          <p:cNvPr id="2058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3AA35A91-5F2E-2578-BAC7-0D0B9E919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08" y="3220426"/>
            <a:ext cx="3797536" cy="264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graph of a dotted line&#10;&#10;Description automatically generated with medium confidence">
            <a:extLst>
              <a:ext uri="{FF2B5EF4-FFF2-40B4-BE49-F238E27FC236}">
                <a16:creationId xmlns:a16="http://schemas.microsoft.com/office/drawing/2014/main" id="{E695ADEA-A2BE-773F-399C-B264947A4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830" y="3220426"/>
            <a:ext cx="3797536" cy="264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A78F9CAD-03D4-8A73-384D-B1BA878E6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20426"/>
            <a:ext cx="3797536" cy="264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236A0-DC3E-9430-E6E0-646C034781F3}"/>
              </a:ext>
            </a:extLst>
          </p:cNvPr>
          <p:cNvSpPr txBox="1"/>
          <p:nvPr/>
        </p:nvSpPr>
        <p:spPr>
          <a:xfrm>
            <a:off x="943635" y="19795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0.101 </a:t>
            </a:r>
          </a:p>
          <a:p>
            <a:r>
              <a:rPr lang="en-US" dirty="0"/>
              <a:t>Spearman rank correlation coefficient: 0.122 </a:t>
            </a:r>
          </a:p>
          <a:p>
            <a:r>
              <a:rPr lang="en-US" dirty="0"/>
              <a:t>Coefficient of Determination (R^2): 0.010</a:t>
            </a:r>
          </a:p>
        </p:txBody>
      </p:sp>
    </p:spTree>
    <p:extLst>
      <p:ext uri="{BB962C8B-B14F-4D97-AF65-F5344CB8AC3E}">
        <p14:creationId xmlns:p14="http://schemas.microsoft.com/office/powerpoint/2010/main" val="393102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8AAF7-9A4E-5A9F-5E25-0D626AA4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PHI: 9.5</a:t>
            </a:r>
          </a:p>
        </p:txBody>
      </p:sp>
      <p:pic>
        <p:nvPicPr>
          <p:cNvPr id="1032" name="Picture 8" descr="A graph with black dots&#10;&#10;Description automatically generated">
            <a:extLst>
              <a:ext uri="{FF2B5EF4-FFF2-40B4-BE49-F238E27FC236}">
                <a16:creationId xmlns:a16="http://schemas.microsoft.com/office/drawing/2014/main" id="{720AA4B7-3F6D-B15A-89FF-16A786BE7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099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10BADFAE-2334-8ACD-23CE-E5B31F90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3386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1AAFBF1E-84B2-F9A8-E187-73C7B6859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A3B74F-9F04-7A4E-4DD1-B246358305EF}"/>
              </a:ext>
            </a:extLst>
          </p:cNvPr>
          <p:cNvSpPr txBox="1"/>
          <p:nvPr/>
        </p:nvSpPr>
        <p:spPr>
          <a:xfrm>
            <a:off x="779362" y="19694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0.181 </a:t>
            </a:r>
          </a:p>
          <a:p>
            <a:r>
              <a:rPr lang="en-US" dirty="0"/>
              <a:t>Spearman rank correlation coefficient: 0.402 </a:t>
            </a:r>
          </a:p>
          <a:p>
            <a:r>
              <a:rPr lang="en-US" dirty="0"/>
              <a:t>Coefficient of Determination (R^2): 0.033</a:t>
            </a:r>
          </a:p>
        </p:txBody>
      </p:sp>
    </p:spTree>
    <p:extLst>
      <p:ext uri="{BB962C8B-B14F-4D97-AF65-F5344CB8AC3E}">
        <p14:creationId xmlns:p14="http://schemas.microsoft.com/office/powerpoint/2010/main" val="408407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666BC-0FA6-2E59-75FE-98976F49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PHI: 11.0</a:t>
            </a:r>
          </a:p>
        </p:txBody>
      </p:sp>
      <p:pic>
        <p:nvPicPr>
          <p:cNvPr id="3082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3DDC0260-187C-84F2-2E74-97B1FD509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6395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 graph with black dots&#10;&#10;Description automatically generated">
            <a:extLst>
              <a:ext uri="{FF2B5EF4-FFF2-40B4-BE49-F238E27FC236}">
                <a16:creationId xmlns:a16="http://schemas.microsoft.com/office/drawing/2014/main" id="{1D790ABC-3B5C-350F-20C7-006E8A4F2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429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F0D0F52A-D98E-5620-5DB9-36EA1508B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DFEDEB-23A2-1F98-F903-47555208706E}"/>
              </a:ext>
            </a:extLst>
          </p:cNvPr>
          <p:cNvSpPr txBox="1"/>
          <p:nvPr/>
        </p:nvSpPr>
        <p:spPr>
          <a:xfrm>
            <a:off x="555171" y="19694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0.160 </a:t>
            </a:r>
          </a:p>
          <a:p>
            <a:r>
              <a:rPr lang="en-US" dirty="0"/>
              <a:t>Spearman rank correlation coefficient: 0.285 </a:t>
            </a:r>
          </a:p>
          <a:p>
            <a:r>
              <a:rPr lang="en-US" dirty="0"/>
              <a:t>Coefficient of Determination (R^2): 0.026</a:t>
            </a:r>
          </a:p>
        </p:txBody>
      </p:sp>
    </p:spTree>
    <p:extLst>
      <p:ext uri="{BB962C8B-B14F-4D97-AF65-F5344CB8AC3E}">
        <p14:creationId xmlns:p14="http://schemas.microsoft.com/office/powerpoint/2010/main" val="415064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15771-7CDA-2947-C158-8A17FE58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PHI: 12.5</a:t>
            </a:r>
          </a:p>
        </p:txBody>
      </p:sp>
      <p:pic>
        <p:nvPicPr>
          <p:cNvPr id="4106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BEFDA0E3-F137-2F05-3A91-A3DF86BE7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52852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 graph with black dots and red line&#10;&#10;Description automatically generated">
            <a:extLst>
              <a:ext uri="{FF2B5EF4-FFF2-40B4-BE49-F238E27FC236}">
                <a16:creationId xmlns:a16="http://schemas.microsoft.com/office/drawing/2014/main" id="{DEAAA09C-398C-2F9E-85C2-813F283EF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174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1DD50F75-8B9C-8AC5-A0A9-85296E9FB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FA3657-CADA-1114-D37C-F3BC6D8D8E60}"/>
              </a:ext>
            </a:extLst>
          </p:cNvPr>
          <p:cNvSpPr txBox="1"/>
          <p:nvPr/>
        </p:nvSpPr>
        <p:spPr>
          <a:xfrm>
            <a:off x="446314" y="19694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0.168 </a:t>
            </a:r>
          </a:p>
          <a:p>
            <a:r>
              <a:rPr lang="en-US" dirty="0"/>
              <a:t>Spearman rank correlation coefficient: 0.289 </a:t>
            </a:r>
          </a:p>
          <a:p>
            <a:r>
              <a:rPr lang="en-US" dirty="0"/>
              <a:t>Coefficient of Determination (R^2): 0.028</a:t>
            </a:r>
          </a:p>
        </p:txBody>
      </p:sp>
    </p:spTree>
    <p:extLst>
      <p:ext uri="{BB962C8B-B14F-4D97-AF65-F5344CB8AC3E}">
        <p14:creationId xmlns:p14="http://schemas.microsoft.com/office/powerpoint/2010/main" val="398965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7" name="Rectangle 5136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AA84D-3976-72BD-62E7-0662C20A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PHI: 14.0</a:t>
            </a:r>
          </a:p>
        </p:txBody>
      </p:sp>
      <p:pic>
        <p:nvPicPr>
          <p:cNvPr id="5130" name="Picture 10" descr="A graph with blue dots and red lines&#10;&#10;Description automatically generated">
            <a:extLst>
              <a:ext uri="{FF2B5EF4-FFF2-40B4-BE49-F238E27FC236}">
                <a16:creationId xmlns:a16="http://schemas.microsoft.com/office/drawing/2014/main" id="{AB1E1615-040D-43EC-E879-E455DBA59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3386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A graph of black dots&#10;&#10;Description automatically generated">
            <a:extLst>
              <a:ext uri="{FF2B5EF4-FFF2-40B4-BE49-F238E27FC236}">
                <a16:creationId xmlns:a16="http://schemas.microsoft.com/office/drawing/2014/main" id="{03BDFC13-6E16-D4AE-3A55-7E990595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925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328B02B4-B5F4-D481-1408-774564B1C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344B9A-6DA9-BEAD-3676-0CF501AE0652}"/>
              </a:ext>
            </a:extLst>
          </p:cNvPr>
          <p:cNvSpPr txBox="1"/>
          <p:nvPr/>
        </p:nvSpPr>
        <p:spPr>
          <a:xfrm>
            <a:off x="576943" y="19694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0.148 </a:t>
            </a:r>
          </a:p>
          <a:p>
            <a:r>
              <a:rPr lang="en-US" dirty="0"/>
              <a:t>Spearman rank correlation coefficient: 0.318 </a:t>
            </a:r>
          </a:p>
          <a:p>
            <a:r>
              <a:rPr lang="en-US" dirty="0"/>
              <a:t>Coefficient of Determination (R^2): 0.022</a:t>
            </a:r>
          </a:p>
        </p:txBody>
      </p:sp>
    </p:spTree>
    <p:extLst>
      <p:ext uri="{BB962C8B-B14F-4D97-AF65-F5344CB8AC3E}">
        <p14:creationId xmlns:p14="http://schemas.microsoft.com/office/powerpoint/2010/main" val="276302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1" name="Rectangle 616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184F7-5C50-278D-E5FB-0EDB1415B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PHI: 15.5</a:t>
            </a:r>
          </a:p>
        </p:txBody>
      </p:sp>
      <p:pic>
        <p:nvPicPr>
          <p:cNvPr id="6154" name="Picture 10">
            <a:extLst>
              <a:ext uri="{FF2B5EF4-FFF2-40B4-BE49-F238E27FC236}">
                <a16:creationId xmlns:a16="http://schemas.microsoft.com/office/drawing/2014/main" id="{4C213E99-1A8F-BDE3-220E-4FEF3DE54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6395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3F899E3C-819F-8110-32F4-591F30EFB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429" y="3204506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CAABDD05-0D26-D004-9E9C-F03AF5DCA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7D19FF-366B-164A-2E8A-68B83C05C7BA}"/>
              </a:ext>
            </a:extLst>
          </p:cNvPr>
          <p:cNvSpPr txBox="1"/>
          <p:nvPr/>
        </p:nvSpPr>
        <p:spPr>
          <a:xfrm>
            <a:off x="490847" y="2174500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0.184 </a:t>
            </a:r>
          </a:p>
          <a:p>
            <a:r>
              <a:rPr lang="en-US" dirty="0"/>
              <a:t>Spearman rank correlation coefficient: 0.337 </a:t>
            </a:r>
          </a:p>
          <a:p>
            <a:r>
              <a:rPr lang="en-US" dirty="0"/>
              <a:t>Coefficient of Determination (R^2): 0.034</a:t>
            </a:r>
          </a:p>
        </p:txBody>
      </p:sp>
    </p:spTree>
    <p:extLst>
      <p:ext uri="{BB962C8B-B14F-4D97-AF65-F5344CB8AC3E}">
        <p14:creationId xmlns:p14="http://schemas.microsoft.com/office/powerpoint/2010/main" val="283748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1" name="Rectangle 719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3BC59-C0AA-5CFE-848E-E7350C08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PHI: 17.0</a:t>
            </a:r>
          </a:p>
        </p:txBody>
      </p:sp>
      <p:pic>
        <p:nvPicPr>
          <p:cNvPr id="7184" name="Picture 16">
            <a:extLst>
              <a:ext uri="{FF2B5EF4-FFF2-40B4-BE49-F238E27FC236}">
                <a16:creationId xmlns:a16="http://schemas.microsoft.com/office/drawing/2014/main" id="{00BBA7DC-97A2-D997-6D1F-D6103257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5707" y="3171421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>
            <a:extLst>
              <a:ext uri="{FF2B5EF4-FFF2-40B4-BE49-F238E27FC236}">
                <a16:creationId xmlns:a16="http://schemas.microsoft.com/office/drawing/2014/main" id="{B3442DB6-F90A-3565-6959-FB0D5557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41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9CCD3F6B-FDCF-660B-D4EB-14080DD40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2673" y="3200228"/>
            <a:ext cx="3797536" cy="268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A4E92C-9DCF-AEE7-678F-7301C9C44FD3}"/>
              </a:ext>
            </a:extLst>
          </p:cNvPr>
          <p:cNvSpPr txBox="1"/>
          <p:nvPr/>
        </p:nvSpPr>
        <p:spPr>
          <a:xfrm>
            <a:off x="534390" y="2152567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0.162 </a:t>
            </a:r>
          </a:p>
          <a:p>
            <a:r>
              <a:rPr lang="en-US" dirty="0"/>
              <a:t>Spearman rank correlation coefficient: 0.262 </a:t>
            </a:r>
          </a:p>
          <a:p>
            <a:r>
              <a:rPr lang="en-US" dirty="0"/>
              <a:t>Coefficient of Determination (R^2): 0.026</a:t>
            </a:r>
          </a:p>
        </p:txBody>
      </p:sp>
    </p:spTree>
    <p:extLst>
      <p:ext uri="{BB962C8B-B14F-4D97-AF65-F5344CB8AC3E}">
        <p14:creationId xmlns:p14="http://schemas.microsoft.com/office/powerpoint/2010/main" val="157980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175</Words>
  <Application>Microsoft Macintosh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RNA Correlation Graphs</vt:lpstr>
      <vt:lpstr>RNA Correlation</vt:lpstr>
      <vt:lpstr>PHI: 8.0</vt:lpstr>
      <vt:lpstr>PHI: 9.5</vt:lpstr>
      <vt:lpstr>PHI: 11.0</vt:lpstr>
      <vt:lpstr>PHI: 12.5</vt:lpstr>
      <vt:lpstr>PHI: 14.0</vt:lpstr>
      <vt:lpstr>PHI: 15.5</vt:lpstr>
      <vt:lpstr>PHI: 17.0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 Correlation Graphs</dc:title>
  <dc:creator>Eduardo Cisneros</dc:creator>
  <cp:lastModifiedBy>Eduardo Cisneros</cp:lastModifiedBy>
  <cp:revision>3</cp:revision>
  <dcterms:created xsi:type="dcterms:W3CDTF">2024-04-12T02:09:22Z</dcterms:created>
  <dcterms:modified xsi:type="dcterms:W3CDTF">2024-04-13T21:25:04Z</dcterms:modified>
</cp:coreProperties>
</file>