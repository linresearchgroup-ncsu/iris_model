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61" r:id="rId4"/>
    <p:sldId id="257" r:id="rId5"/>
    <p:sldId id="269" r:id="rId6"/>
    <p:sldId id="279" r:id="rId7"/>
    <p:sldId id="258" r:id="rId8"/>
    <p:sldId id="270" r:id="rId9"/>
    <p:sldId id="288" r:id="rId10"/>
    <p:sldId id="260" r:id="rId11"/>
    <p:sldId id="271" r:id="rId12"/>
    <p:sldId id="287" r:id="rId13"/>
    <p:sldId id="262" r:id="rId14"/>
    <p:sldId id="290" r:id="rId15"/>
    <p:sldId id="272" r:id="rId16"/>
    <p:sldId id="286" r:id="rId17"/>
    <p:sldId id="263" r:id="rId18"/>
    <p:sldId id="273" r:id="rId19"/>
    <p:sldId id="285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03"/>
    <p:restoredTop sz="94800"/>
  </p:normalViewPr>
  <p:slideViewPr>
    <p:cSldViewPr snapToGrid="0">
      <p:cViewPr varScale="1">
        <p:scale>
          <a:sx n="212" d="100"/>
          <a:sy n="212" d="100"/>
        </p:scale>
        <p:origin x="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3BB0-708F-FA98-B9A3-C96FF732D3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0EDB03-35D4-54AF-B95C-D9CAF6A5C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875AA7-767B-4FDF-6D3E-F706A7492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8A1F4-0850-D30E-C778-AB6EF0F82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1C27-6D09-4BEA-C1F5-9FF0378A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9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8616-28B1-1B39-FA01-D54C61F66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5A29D-9DB5-E80A-23C5-EBFE5B834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4302-AA3F-B31B-F220-770E4117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54082-4169-582F-B62F-3339CDF13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F0662-DA65-082B-2DB3-03FF114CB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202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9030-78C1-99C7-D35C-7D55B4840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5C83D-09B0-DB06-6706-711E4C29ED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C19F0-905C-C25D-3AD2-BDD1247A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4E70C-6EB7-07D4-7055-4CCA3DFE7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5D2FE-6FAC-4D8F-179A-F1A30429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570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5439B-6C43-A6F9-6313-EBE293AC4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05CB3-01FB-1648-CCEE-FAB968B9BE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42F8-E930-24DD-2B58-72FBC7E0D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D88A4-F455-2FDB-397F-716D641B0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F9500-5E5E-8BB0-5C76-C5657541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A709B-021B-8E39-91BD-DDB82820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1544-621B-F41A-40A0-D698138EA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D4FC-9EA7-9322-C03D-A633A1F8E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55E2CF-C3F4-DC3E-15F8-95093BA0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B6360-A13E-5D1E-1CA4-C991816FE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68CA61-EDD2-6772-32D8-4A51810C3F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DE1D9-452D-DC89-5F66-ADC018B45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EA3C77-E67D-EE1D-1380-F07EEFF50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19D67F-FAC2-A053-BF75-36353B1C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58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827C1-55C3-E045-809D-F0913859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0B96AF-DA52-CA00-AE92-569ED11FA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F04281-C9F6-0AF6-4D92-B191C6B30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CBE29-0B18-5BEC-C8E6-50B7BE76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24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D5D0D-9E64-B9A7-1B8A-118E30A8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4E3013-D0F6-F293-02F4-0596B978E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8CCB4-9CC3-BD48-1C4B-12D1D108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26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6D7A-F6E2-DD62-2564-D5AC1FB05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98575-DAC4-5F53-413A-7F5DBC269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7526D-5B85-95D5-36C2-49A04F5C0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6FE99-0711-C3EF-5E6D-121CF4B70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DE1375-478D-EEF5-522B-65037B364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C7B0B-0841-5076-0206-A30784EA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9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4577E-3E9E-A9CA-937A-9947D12C3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C98BE1-7A82-69C5-CFF0-55FC0A4C8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66718-9AFA-1214-8EB9-12CE17D76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D09075-725F-0146-63E3-23D073A84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4ED5DC-F78B-2DAD-F25B-C59981448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8D85A-A66A-A891-26C6-C599BB7F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493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B8A38-0835-D1E9-9AAF-5004F0025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6E8BD-785E-AC2C-0E43-06F99E700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78DF-E0E0-EFAD-424B-90BF9947E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B0AE0-635B-0326-1059-FCAC238CF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A1EFE-4AAB-0EBE-844F-9464538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14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C4CCA1-022F-0155-8229-96FA1B2D27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2F64EA-A6C1-06BA-DCD9-FB0D5A03E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3EA436-F241-B2F6-62EA-F77EFDD6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B0078-00CA-79BC-F240-106C74057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B1E1-4D1F-4437-6DE0-D27A3170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8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B49769-5A8E-552E-7588-AF97001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29018-2E13-5DE2-ACE6-B1791A4C0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FE85D-B032-3F79-02CC-22B753FDAA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639EA0-F1F0-6945-A897-517B500ABEA6}" type="datetimeFigureOut">
              <a:rPr lang="en-US" smtClean="0"/>
              <a:t>6/21/24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E2F4D-6AE9-D23E-4760-5D2F415904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F64AC-CC54-5C2F-4847-F5BF39C61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FBE708-E8FD-CD47-9473-4C90E5495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936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7CF6-19B8-AA20-E439-1D5C2D386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Mutation Graphs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AFF37-1758-791A-7384-673F86EC6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08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41872" y="2251494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4548116" y="2251494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8582403" y="2251494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25B1818C-8430-AD68-B698-BDC5EF179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34" y="2959768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B3196352-BBA7-678D-D7A9-FAA265BDE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320" y="2959766"/>
            <a:ext cx="3297152" cy="273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>
            <a:extLst>
              <a:ext uri="{FF2B5EF4-FFF2-40B4-BE49-F238E27FC236}">
                <a16:creationId xmlns:a16="http://schemas.microsoft.com/office/drawing/2014/main" id="{32E9CBBD-BC17-9817-8891-C3227AB304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4677" y="2959767"/>
            <a:ext cx="3297152" cy="273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1F93-39F6-0360-A88F-BC19D6B65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1-3 Mutations – PHI 9.5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7D03B-5F7A-8092-5D82-9CF16F263DDE}"/>
              </a:ext>
            </a:extLst>
          </p:cNvPr>
          <p:cNvSpPr txBox="1"/>
          <p:nvPr/>
        </p:nvSpPr>
        <p:spPr>
          <a:xfrm>
            <a:off x="710022" y="1921225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0.503 </a:t>
            </a:r>
          </a:p>
          <a:p>
            <a:r>
              <a:rPr lang="en-US" dirty="0"/>
              <a:t>Spearman rank correlation coefficient: 0.489 </a:t>
            </a:r>
          </a:p>
          <a:p>
            <a:r>
              <a:rPr lang="en-US" dirty="0"/>
              <a:t>Coefficient of Determination (R^2): 0.253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03A800-0042-0379-D253-BB837B3F4B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00" y="3590813"/>
            <a:ext cx="3532947" cy="251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0AA2A7BC-7A79-F9EE-401B-65192331A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9526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CA3DF125-0A31-04A8-0F7D-53F2025AE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0833" y="3590811"/>
            <a:ext cx="3532948" cy="2511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2CDBDD-2442-A319-0B67-33DB8920D3E0}"/>
              </a:ext>
            </a:extLst>
          </p:cNvPr>
          <p:cNvSpPr txBox="1"/>
          <p:nvPr/>
        </p:nvSpPr>
        <p:spPr>
          <a:xfrm>
            <a:off x="8849638" y="18475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89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0.606 </a:t>
            </a:r>
          </a:p>
          <a:p>
            <a:r>
              <a:rPr lang="en-US" dirty="0"/>
              <a:t>Spearman rank correlation coefficient: 0.626 </a:t>
            </a:r>
          </a:p>
          <a:p>
            <a:r>
              <a:rPr lang="en-US" dirty="0"/>
              <a:t>Coefficient of Determination (R^2): 0.368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68732D-7ED7-97C2-A287-FD13B404F3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22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5837E3A-440B-37B4-DAEE-D8A45DC27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428" y="3183412"/>
            <a:ext cx="3903144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A10008F-5645-1E8E-7ED0-7F252BD2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1835" y="3183412"/>
            <a:ext cx="3903143" cy="277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2038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2BU1+1AQ3_Single Mutation – PHI 9.5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86FED-8565-E8AD-0732-902C3367A438}"/>
              </a:ext>
            </a:extLst>
          </p:cNvPr>
          <p:cNvSpPr txBox="1"/>
          <p:nvPr/>
        </p:nvSpPr>
        <p:spPr>
          <a:xfrm>
            <a:off x="726243" y="1798936"/>
            <a:ext cx="6098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0.281 </a:t>
            </a:r>
          </a:p>
          <a:p>
            <a:r>
              <a:rPr lang="en-US" dirty="0"/>
              <a:t>Spearman rank correlation coefficient: 0.281 </a:t>
            </a:r>
          </a:p>
          <a:p>
            <a:r>
              <a:rPr lang="en-US" dirty="0"/>
              <a:t>Coefficient of Determination (R^2): 0.079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44170F2-DD9D-2ABB-92B7-F6D9876D3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773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0B2983D-5E7C-DAEB-811A-316DACFC4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734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8B131D8D-0BDD-43F7-226D-C7DC78267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2695" y="3429000"/>
            <a:ext cx="3598532" cy="2558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4593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0.086 </a:t>
            </a:r>
          </a:p>
          <a:p>
            <a:r>
              <a:rPr lang="en-US" dirty="0"/>
              <a:t>Spearman rank correlation coefficient: -0.058 </a:t>
            </a:r>
          </a:p>
          <a:p>
            <a:r>
              <a:rPr lang="en-US" dirty="0"/>
              <a:t>Coefficient of Determination (R^2): 0.007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7947B81-3496-8F12-3210-961F9D248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465" y="3235636"/>
            <a:ext cx="3814862" cy="271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3FF1BE-CABE-E52A-5E36-E9D66EB38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569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AA16F07-0C2B-4E11-751D-85C2525B5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7672" y="3235636"/>
            <a:ext cx="3814861" cy="2712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5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Pearson rank correlation coefficient: 0.490 </a:t>
            </a:r>
          </a:p>
          <a:p>
            <a:r>
              <a:rPr lang="en-US"/>
              <a:t>Spearman rank correlation coefficient: 0.488 </a:t>
            </a:r>
          </a:p>
          <a:p>
            <a:r>
              <a:rPr lang="en-US"/>
              <a:t>Coefficient of Determination (R^2): 0.240</a:t>
            </a:r>
            <a:endParaRPr lang="en-US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16581E37-EA91-74D2-CF2E-9640457A6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794" y="3435467"/>
            <a:ext cx="3623609" cy="2576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71403BB-E539-3D44-5B3F-8C3F5A23A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81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6BAC9327-8E8B-A803-C280-19330F637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8597" y="3435466"/>
            <a:ext cx="3623609" cy="2576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6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0.329 </a:t>
            </a:r>
          </a:p>
          <a:p>
            <a:r>
              <a:rPr lang="en-US" dirty="0"/>
              <a:t>Spearman rank correlation coefficient: 0.331 </a:t>
            </a:r>
          </a:p>
          <a:p>
            <a:r>
              <a:rPr lang="en-US" dirty="0"/>
              <a:t>Coefficient of Determination (R^2): 0.108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FAD9B70-070D-1ECF-E004-963EA22E0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00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85978B57-A9C9-0630-3BD7-B84C312DB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5838" y="3429000"/>
            <a:ext cx="3500324" cy="2488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914828D2-7735-4F27-0C42-F728CC861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75" y="3429000"/>
            <a:ext cx="3500325" cy="2488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2693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944671" y="1690688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0.015 </a:t>
            </a:r>
          </a:p>
          <a:p>
            <a:r>
              <a:rPr lang="en-US" dirty="0"/>
              <a:t>Spearman rank correlation coefficient: 0.007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69F2CB0C-7980-098C-08D3-FFF188C08B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4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508BEF57-EAFA-BF39-1EF3-42729B62E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5" y="3345818"/>
            <a:ext cx="3676170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D97757E7-2922-84A4-A804-3AA648FA5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4085" y="3345818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741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0.534 </a:t>
            </a:r>
          </a:p>
          <a:p>
            <a:r>
              <a:rPr lang="en-US" dirty="0"/>
              <a:t>Spearman rank correlation coefficient: 0.564 </a:t>
            </a:r>
          </a:p>
          <a:p>
            <a:r>
              <a:rPr lang="en-US" dirty="0"/>
              <a:t>Coefficient of Determination (R^2): 0.285</a:t>
            </a: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2F085580-2FB3-EBD0-07C5-BBF1047EA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376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FDCCDD0-180B-E8EA-1B16-ECDF06A0D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840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55CA8150-3530-44F2-F911-5C56265A81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304" y="3426256"/>
            <a:ext cx="3470319" cy="246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126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0.299 </a:t>
            </a:r>
          </a:p>
          <a:p>
            <a:r>
              <a:rPr lang="en-US" dirty="0"/>
              <a:t>Spearman rank correlation coefficient: 0.299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ABA032D6-5602-93B9-E6A4-9AB2EEFFF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395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12283549-8A16-AE28-EA73-32F3FD6C9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768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BCF84CE1-644A-2C8A-CFA7-C130F3F6F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5141" y="3320249"/>
            <a:ext cx="3658463" cy="260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5504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-0.053 </a:t>
            </a:r>
          </a:p>
          <a:p>
            <a:r>
              <a:rPr lang="en-US" dirty="0"/>
              <a:t>Spearman rank correlation coefficient: -0.103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109AC-7977-A4B1-6B64-41577FF05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508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372BD6-4EEC-3C54-EB38-AB504BADC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2796" y="3517169"/>
            <a:ext cx="3412716" cy="242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7DB2025-4725-3AEE-5704-282B8A40D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1086" y="3517169"/>
            <a:ext cx="3412714" cy="2426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647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-0.547 </a:t>
            </a:r>
          </a:p>
          <a:p>
            <a:r>
              <a:rPr lang="en-US" dirty="0"/>
              <a:t>Spearman rank correlation coefficient: -0.683 </a:t>
            </a:r>
          </a:p>
          <a:p>
            <a:r>
              <a:rPr lang="en-US" dirty="0"/>
              <a:t>Coefficient of Determination (R^2): 0.300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4F51CE-4CFA-F28D-8773-F0E86FC64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65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F20DFF8-3317-1507-1BB8-FF7032EC7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493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FE5D301-EB40-6F83-BA78-A598B5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1321" y="3429000"/>
            <a:ext cx="3733333" cy="2640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6056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0.059 </a:t>
            </a:r>
          </a:p>
          <a:p>
            <a:r>
              <a:rPr lang="en-US" dirty="0"/>
              <a:t>Spearman rank correlation coefficient: 0.077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8021B8-2F09-9AE6-70ED-66A4F63EA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48" y="3740985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41544FD-B666-F8E2-0B1F-E2EB2A906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5919" y="3740985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A138C9C-AD18-07A4-940A-922B954B1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2991" y="3783931"/>
            <a:ext cx="3900161" cy="275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1455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-0.301 </a:t>
            </a:r>
          </a:p>
          <a:p>
            <a:r>
              <a:rPr lang="en-US" dirty="0"/>
              <a:t>Spearman rank correlation coefficient: -0.463 </a:t>
            </a:r>
          </a:p>
          <a:p>
            <a:r>
              <a:rPr lang="en-US" dirty="0"/>
              <a:t>Coefficient of Determination (R^2): 0.090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406E3F89-3D51-714B-FF25-5D1954675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CACB5FD0-2DB3-75A4-E1E9-112B0A6CF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658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>
            <a:extLst>
              <a:ext uri="{FF2B5EF4-FFF2-40B4-BE49-F238E27FC236}">
                <a16:creationId xmlns:a16="http://schemas.microsoft.com/office/drawing/2014/main" id="{6AF65280-CE99-F7DB-6CE8-8CFAD68A1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6256" y="3429000"/>
            <a:ext cx="3666683" cy="259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7691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-0.148 </a:t>
            </a:r>
          </a:p>
          <a:p>
            <a:r>
              <a:rPr lang="en-US" dirty="0"/>
              <a:t>Spearman rank correlation coefficient: -0.133 </a:t>
            </a:r>
          </a:p>
          <a:p>
            <a:r>
              <a:rPr lang="en-US" dirty="0"/>
              <a:t>Coefficient of Determination (R^2): 0.022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816E385-B39F-F376-6090-244663044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04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25C34077-E8D6-1449-BED1-D11F8645A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0704" y="3797332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EE5CC55D-DABF-6E37-83D5-A5D523DB2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5236" y="3797331"/>
            <a:ext cx="3410591" cy="241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21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-0.829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0.687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C55CEF8-1A24-6485-8CFE-B3D192A629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22" y="3429000"/>
            <a:ext cx="3804920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21454F7-1595-FB76-4F98-74EF384FA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540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BC26BC3-3AF3-0FBD-D3EA-AF4E82D23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59" y="3429000"/>
            <a:ext cx="3804919" cy="2705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4979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2BU1+1AQ3_Quintuple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-0.743 </a:t>
            </a:r>
          </a:p>
          <a:p>
            <a:r>
              <a:rPr lang="en-US" dirty="0"/>
              <a:t>Spearman rank correlation coefficient: -0.777 </a:t>
            </a:r>
          </a:p>
          <a:p>
            <a:r>
              <a:rPr lang="en-US" dirty="0"/>
              <a:t>Coefficient of Determination (R^2): 0.552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5FDEF14-DEC2-0599-9591-88A0CB69B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627" y="3429000"/>
            <a:ext cx="3827906" cy="272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BD9272A8-3735-53FC-87A6-B8D5B8DF1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047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70A53AA5-FA86-70FE-4878-658E3AA11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3470" y="3428999"/>
            <a:ext cx="3827906" cy="272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3257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2BU1+1U1Y_Quintuple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-0.837 </a:t>
            </a:r>
          </a:p>
          <a:p>
            <a:r>
              <a:rPr lang="en-US" dirty="0"/>
              <a:t>Spearman rank correlation coefficient: -0.738 </a:t>
            </a:r>
          </a:p>
          <a:p>
            <a:r>
              <a:rPr lang="en-US" dirty="0"/>
              <a:t>Coefficient of Determination (R^2): 0.700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7C400EC-86ED-381E-9CF9-5267B4B8B2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24" y="3597905"/>
            <a:ext cx="3676171" cy="261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7B4FA37C-E5F3-4309-6690-F8F379ACE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914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0F6493CF-91CB-D6A1-419E-DD1E62A18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696" y="3597905"/>
            <a:ext cx="3676171" cy="261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3722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4BB28-B350-8F6A-5B47-2C7B4FA83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56A4AEA-540E-58E8-2BD7-5C8C39FC9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8849" y="1690688"/>
            <a:ext cx="7173829" cy="507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6080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28767</TotalTime>
  <Words>504</Words>
  <Application>Microsoft Macintosh PowerPoint</Application>
  <PresentationFormat>Widescreen</PresentationFormat>
  <Paragraphs>73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Mutation Graphs</vt:lpstr>
      <vt:lpstr>2bu1 Phi &amp; Gamma Graphs</vt:lpstr>
      <vt:lpstr>1-3 Mutations – PHI 9.5</vt:lpstr>
      <vt:lpstr>2BU1_Single Mutation – PHI 9.5</vt:lpstr>
      <vt:lpstr>2BU1+1AQ3_Single Mutation – PHI 9.5</vt:lpstr>
      <vt:lpstr>2BU1+1U1Y_Single Mutation – PHI 9.5</vt:lpstr>
      <vt:lpstr>2BU1_Double Mutation – PHI 9.5</vt:lpstr>
      <vt:lpstr>2BU1+1AQ3_Double Mutation – PHI 9.5</vt:lpstr>
      <vt:lpstr>2BU1+1U1Y_Double Mutation – PHI 9.5</vt:lpstr>
      <vt:lpstr>2BU1_Triple Mutation – PHI 9.5</vt:lpstr>
      <vt:lpstr>2BU1+1AQ3_Triple Mutation – PHI 9.5</vt:lpstr>
      <vt:lpstr>2BU1+1U1Y_Triple Mutation – PHI 9.5</vt:lpstr>
      <vt:lpstr>2BU1_Quadruple Mutation – PHI 9.5</vt:lpstr>
      <vt:lpstr>2BU1_AF_Quadruple Mutation – PHI 9.5</vt:lpstr>
      <vt:lpstr>2BU1+1AQ3_Quadruple Mutation – PHI 9.5</vt:lpstr>
      <vt:lpstr>2BU1+1U1Y_Quadruple Mutation – PHI 9.5</vt:lpstr>
      <vt:lpstr>2BU1_Quintuple Mutation – PHI 9.5</vt:lpstr>
      <vt:lpstr>2BU1+1AQ3_Quintuple Mutation – PHI 9.5</vt:lpstr>
      <vt:lpstr>2BU1+1U1Y_Quintuple Mutation – PHI 9.5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Mutation Graphs</dc:title>
  <dc:creator>Eduardo Cisneros</dc:creator>
  <cp:lastModifiedBy>Eduardo Cisneros</cp:lastModifiedBy>
  <cp:revision>7</cp:revision>
  <dcterms:created xsi:type="dcterms:W3CDTF">2024-04-30T06:04:32Z</dcterms:created>
  <dcterms:modified xsi:type="dcterms:W3CDTF">2024-06-21T04:01:49Z</dcterms:modified>
</cp:coreProperties>
</file>