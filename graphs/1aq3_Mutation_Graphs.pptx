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4" r:id="rId3"/>
    <p:sldId id="278" r:id="rId4"/>
    <p:sldId id="265" r:id="rId5"/>
    <p:sldId id="277" r:id="rId6"/>
    <p:sldId id="266" r:id="rId7"/>
    <p:sldId id="276" r:id="rId8"/>
    <p:sldId id="267" r:id="rId9"/>
    <p:sldId id="275" r:id="rId10"/>
    <p:sldId id="268" r:id="rId11"/>
    <p:sldId id="274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081"/>
    <p:restoredTop sz="94640"/>
  </p:normalViewPr>
  <p:slideViewPr>
    <p:cSldViewPr snapToGrid="0">
      <p:cViewPr varScale="1">
        <p:scale>
          <a:sx n="211" d="100"/>
          <a:sy n="211" d="100"/>
        </p:scale>
        <p:origin x="122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234B9-4D3C-C0C5-09A2-A9C2E7D8FA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ED89B2-51FB-7FD8-F785-30CBBECD2A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7B71FB-808A-9174-58BD-B35BBE60B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AC24F-0A06-4341-95A1-55707B472297}" type="datetimeFigureOut">
              <a:rPr lang="en-US" smtClean="0"/>
              <a:t>5/28/24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6D2DC3-5EA8-29EF-9E19-EBFC4BA31C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617A7B-D2A7-45E9-7B80-6B84618EA3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596D4-BCFA-1242-8598-7336E569BF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5920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70877-B6BC-54CD-8EF7-DABCF43B02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39AA82-0569-7113-97B7-BF9E9592E1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A4C243-2D52-F241-6585-BEEBBFB234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AC24F-0A06-4341-95A1-55707B472297}" type="datetimeFigureOut">
              <a:rPr lang="en-US" smtClean="0"/>
              <a:t>5/28/24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27150B-ABBD-6745-8BBA-49CF825EC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19EA63-BB6D-231A-4837-648C339BF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596D4-BCFA-1242-8598-7336E569BF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5887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89362E-6399-E994-6B6D-650E4583CA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FCEC8F-C8C8-355E-410C-DADCAE1FBE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8D12ED-C278-F2A9-D348-96B0963A99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AC24F-0A06-4341-95A1-55707B472297}" type="datetimeFigureOut">
              <a:rPr lang="en-US" smtClean="0"/>
              <a:t>5/28/24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6B25E4-82FF-4909-0F92-B4CC82D77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89BDC2-D58F-81E3-4946-70958455D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596D4-BCFA-1242-8598-7336E569BF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1283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9B97EB-427F-E2C9-3E85-8332F039D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3289E1-D956-88A2-7835-C489AD7DF8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78C982-E424-F591-16F6-F48D8F11B3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09F526-261F-624C-7D26-54800B16CA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AC24F-0A06-4341-95A1-55707B472297}" type="datetimeFigureOut">
              <a:rPr lang="en-US" smtClean="0"/>
              <a:t>5/28/24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4F53C3-EDB3-EE53-E670-4557E06F2E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91837C-A61D-C070-4356-9C4A74A77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596D4-BCFA-1242-8598-7336E569BF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083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E9005A-4C1B-09BF-9592-54E887D0B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A84725-1902-CBA2-2C7B-B861F8D0F9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513830-6395-E260-28AA-287722A594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E902C2B-6E7E-D69E-43AB-EDAF302DBC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9C755FD-89AD-AC22-9865-DD2CB735F1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9345CA-1F8F-37A1-6300-62736F123A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AC24F-0A06-4341-95A1-55707B472297}" type="datetimeFigureOut">
              <a:rPr lang="en-US" smtClean="0"/>
              <a:t>5/28/24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EB55EB1-38DA-FB8D-64A2-48C922AF35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1DC2448-17C4-9A65-F616-83C8DBC3C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596D4-BCFA-1242-8598-7336E569BF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18551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75BABF-0487-6293-AF94-0D1AAC9F41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5027C96-CDD1-04EB-4088-7AC2628DFE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AC24F-0A06-4341-95A1-55707B472297}" type="datetimeFigureOut">
              <a:rPr lang="en-US" smtClean="0"/>
              <a:t>5/28/24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702E74-2D1A-E486-8AA9-E68F770F0D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F441F5-2660-6748-8BF2-FAE664B07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596D4-BCFA-1242-8598-7336E569BF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55066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3912B7-2858-5178-B475-71DB14269B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AC24F-0A06-4341-95A1-55707B472297}" type="datetimeFigureOut">
              <a:rPr lang="en-US" smtClean="0"/>
              <a:t>5/28/24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A35B57-E7D0-2548-EA11-8B5CE159FE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8B3393-C543-35EA-4A49-2BBFE2EEC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596D4-BCFA-1242-8598-7336E569BF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7001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7909D6-D446-328B-5F15-C1F82D74B1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BCFB09-7AFE-417B-D721-42E670EA56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33FC7F-B9BA-D5B7-48A0-59DA10A449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73F788-58F0-9403-3E48-3A863D0C63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AC24F-0A06-4341-95A1-55707B472297}" type="datetimeFigureOut">
              <a:rPr lang="en-US" smtClean="0"/>
              <a:t>5/28/24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367C97-596A-D1BB-6295-1FE4371FBE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C56F26-B5F9-CC94-A4BB-A202305E1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596D4-BCFA-1242-8598-7336E569BF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6884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5D2BF-E158-1E5C-9EA2-A92BC71F5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7B54EAA-1161-9362-2885-54424DD7867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C84F77-7EA1-B623-C428-7A0D85ACDF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D7FE37-76EA-DF6C-FDE6-3593AB3964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AC24F-0A06-4341-95A1-55707B472297}" type="datetimeFigureOut">
              <a:rPr lang="en-US" smtClean="0"/>
              <a:t>5/28/24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149E8A-DE3F-CBD5-6239-D685624C3F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F3F06D-1A08-B561-5E06-748D0CEAB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596D4-BCFA-1242-8598-7336E569BF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77977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00EED-A470-9674-7DD1-4F4565BD1E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C28B0E-8827-023A-65CB-EE72A3F5EF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45D8B9-CCB6-B3DF-F14A-3F408CBB2B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AC24F-0A06-4341-95A1-55707B472297}" type="datetimeFigureOut">
              <a:rPr lang="en-US" smtClean="0"/>
              <a:t>5/28/24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86E1C2-CCAA-0956-4437-38C93E092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29E7C8-4AAD-85BB-6B9D-D4F6101CB3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596D4-BCFA-1242-8598-7336E569BF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7866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97EDE13-643E-6513-73A8-45A5B9C9F1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5D002B-D783-0235-AF0C-3F521BA40D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280BEA-18A5-24B1-FFD8-ED545D1EA9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AC24F-0A06-4341-95A1-55707B472297}" type="datetimeFigureOut">
              <a:rPr lang="en-US" smtClean="0"/>
              <a:t>5/28/24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F16C98-F416-A398-9363-598740921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A2398C-076E-6F3A-522F-E4D1F87DAE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596D4-BCFA-1242-8598-7336E569BF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7535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D92856C-A6F6-7488-2FF7-D9321A136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C9B15D-5512-7FE7-42F2-AF8FAA972C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EA651D-7A85-916C-B94D-DA477E1AF1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AAC24F-0A06-4341-95A1-55707B472297}" type="datetimeFigureOut">
              <a:rPr lang="en-US" smtClean="0"/>
              <a:t>5/28/24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76359D-72AC-ED85-EA26-5E918F6BD9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1F10E7-DC5A-DF5D-489B-99CE5BBCA7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2596D4-BCFA-1242-8598-7336E569BF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1446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B2A48-F043-4F1C-1A50-0AD34D4166E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1aq3 – RNA Complex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582E45-75E7-9E11-4329-E65EF789246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26617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77E3B-C8DE-F07E-AF0F-4CF353351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1AQ3_Single Mutation – PHI 9.5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E886FED-8565-E8AD-0732-902C3367A438}"/>
              </a:ext>
            </a:extLst>
          </p:cNvPr>
          <p:cNvSpPr txBox="1"/>
          <p:nvPr/>
        </p:nvSpPr>
        <p:spPr>
          <a:xfrm>
            <a:off x="726243" y="1798936"/>
            <a:ext cx="609805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Pearson rank correlation coefficient: -0.078 </a:t>
            </a:r>
          </a:p>
          <a:p>
            <a:r>
              <a:rPr lang="en-US" dirty="0"/>
              <a:t>Spearman rank correlation coefficient: -0.091 </a:t>
            </a:r>
          </a:p>
          <a:p>
            <a:r>
              <a:rPr lang="en-US" dirty="0"/>
              <a:t>Coefficient of Determination (R^2): 0.006</a:t>
            </a:r>
          </a:p>
        </p:txBody>
      </p:sp>
      <p:pic>
        <p:nvPicPr>
          <p:cNvPr id="1034" name="Picture 10">
            <a:extLst>
              <a:ext uri="{FF2B5EF4-FFF2-40B4-BE49-F238E27FC236}">
                <a16:creationId xmlns:a16="http://schemas.microsoft.com/office/drawing/2014/main" id="{ED6EAED4-81D1-6A28-96B9-E4A6D73D92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756" y="3429000"/>
            <a:ext cx="3599615" cy="26196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>
            <a:extLst>
              <a:ext uri="{FF2B5EF4-FFF2-40B4-BE49-F238E27FC236}">
                <a16:creationId xmlns:a16="http://schemas.microsoft.com/office/drawing/2014/main" id="{169D52E8-44B6-17FC-C431-14EC0D0F96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6192" y="3428997"/>
            <a:ext cx="3599615" cy="26196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>
            <a:extLst>
              <a:ext uri="{FF2B5EF4-FFF2-40B4-BE49-F238E27FC236}">
                <a16:creationId xmlns:a16="http://schemas.microsoft.com/office/drawing/2014/main" id="{04C954EE-85FC-ED77-227E-3820E1ED0B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95651" y="3428997"/>
            <a:ext cx="3599615" cy="26196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227811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77E3B-C8DE-F07E-AF0F-4CF353351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1AQ3(AS)_Single Mutation – PHI 9.5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E886FED-8565-E8AD-0732-902C3367A438}"/>
              </a:ext>
            </a:extLst>
          </p:cNvPr>
          <p:cNvSpPr txBox="1"/>
          <p:nvPr/>
        </p:nvSpPr>
        <p:spPr>
          <a:xfrm>
            <a:off x="726243" y="1798936"/>
            <a:ext cx="609805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Pearson rank correlation coefficient: -0.240 </a:t>
            </a:r>
          </a:p>
          <a:p>
            <a:r>
              <a:rPr lang="en-US" dirty="0"/>
              <a:t>Spearman rank correlation coefficient: -0.045 </a:t>
            </a:r>
          </a:p>
          <a:p>
            <a:r>
              <a:rPr lang="en-US" dirty="0"/>
              <a:t>Coefficient of Determination (R^2): 0.058</a:t>
            </a:r>
          </a:p>
        </p:txBody>
      </p:sp>
      <p:pic>
        <p:nvPicPr>
          <p:cNvPr id="19458" name="Picture 2">
            <a:extLst>
              <a:ext uri="{FF2B5EF4-FFF2-40B4-BE49-F238E27FC236}">
                <a16:creationId xmlns:a16="http://schemas.microsoft.com/office/drawing/2014/main" id="{91215C76-5F40-36F1-D685-D57F7676AC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888" y="3700732"/>
            <a:ext cx="3225748" cy="22588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460" name="Picture 4">
            <a:extLst>
              <a:ext uri="{FF2B5EF4-FFF2-40B4-BE49-F238E27FC236}">
                <a16:creationId xmlns:a16="http://schemas.microsoft.com/office/drawing/2014/main" id="{C9AC2EFC-0F78-8FED-1CD0-23C527A858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4847" y="3700732"/>
            <a:ext cx="3225748" cy="22588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462" name="Picture 6">
            <a:extLst>
              <a:ext uri="{FF2B5EF4-FFF2-40B4-BE49-F238E27FC236}">
                <a16:creationId xmlns:a16="http://schemas.microsoft.com/office/drawing/2014/main" id="{F86CBA87-CF40-9C2F-72C1-F33F2AF0C0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5210" y="3638588"/>
            <a:ext cx="3225748" cy="22588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209049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77E3B-C8DE-F07E-AF0F-4CF353351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1AQ3_Double Mutation – PHI 9.5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8302CB-C012-00EF-0450-25C9128C2913}"/>
              </a:ext>
            </a:extLst>
          </p:cNvPr>
          <p:cNvSpPr txBox="1"/>
          <p:nvPr/>
        </p:nvSpPr>
        <p:spPr>
          <a:xfrm>
            <a:off x="944671" y="1690688"/>
            <a:ext cx="609499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Pearson rank correlation coefficient: -0.069 </a:t>
            </a:r>
          </a:p>
          <a:p>
            <a:r>
              <a:rPr lang="en-US" dirty="0"/>
              <a:t>Spearman rank correlation coefficient: -0.076 </a:t>
            </a:r>
          </a:p>
          <a:p>
            <a:r>
              <a:rPr lang="en-US" dirty="0"/>
              <a:t>Coefficient of Determination (R^2): 0.005</a:t>
            </a:r>
          </a:p>
        </p:txBody>
      </p:sp>
      <p:pic>
        <p:nvPicPr>
          <p:cNvPr id="2056" name="Picture 8">
            <a:extLst>
              <a:ext uri="{FF2B5EF4-FFF2-40B4-BE49-F238E27FC236}">
                <a16:creationId xmlns:a16="http://schemas.microsoft.com/office/drawing/2014/main" id="{586A53B8-17EF-0184-7DAA-A586755735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871" y="3377028"/>
            <a:ext cx="3736556" cy="26566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>
            <a:extLst>
              <a:ext uri="{FF2B5EF4-FFF2-40B4-BE49-F238E27FC236}">
                <a16:creationId xmlns:a16="http://schemas.microsoft.com/office/drawing/2014/main" id="{4C3A332F-F766-F726-7D12-E96D233DA3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5625" y="3374250"/>
            <a:ext cx="3736556" cy="26566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>
            <a:extLst>
              <a:ext uri="{FF2B5EF4-FFF2-40B4-BE49-F238E27FC236}">
                <a16:creationId xmlns:a16="http://schemas.microsoft.com/office/drawing/2014/main" id="{306FF2EF-FB66-2957-BBAC-1EAA23339C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4379" y="3374250"/>
            <a:ext cx="3736556" cy="26566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557068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77E3B-C8DE-F07E-AF0F-4CF353351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1AQ3(AS)_Double Mutation – PHI 9.5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8302CB-C012-00EF-0450-25C9128C2913}"/>
              </a:ext>
            </a:extLst>
          </p:cNvPr>
          <p:cNvSpPr txBox="1"/>
          <p:nvPr/>
        </p:nvSpPr>
        <p:spPr>
          <a:xfrm>
            <a:off x="944671" y="1690688"/>
            <a:ext cx="609499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Pearson rank correlation coefficient: -0.353 </a:t>
            </a:r>
          </a:p>
          <a:p>
            <a:r>
              <a:rPr lang="en-US" dirty="0"/>
              <a:t>Spearman rank correlation coefficient: -0.290 </a:t>
            </a:r>
          </a:p>
          <a:p>
            <a:r>
              <a:rPr lang="en-US" dirty="0"/>
              <a:t>Coefficient of Determination (R^2): 0.125</a:t>
            </a:r>
          </a:p>
        </p:txBody>
      </p:sp>
      <p:pic>
        <p:nvPicPr>
          <p:cNvPr id="18434" name="Picture 2">
            <a:extLst>
              <a:ext uri="{FF2B5EF4-FFF2-40B4-BE49-F238E27FC236}">
                <a16:creationId xmlns:a16="http://schemas.microsoft.com/office/drawing/2014/main" id="{67C7C5FA-41D8-B16D-237D-041CB79857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058" y="3316026"/>
            <a:ext cx="3429599" cy="24015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436" name="Picture 4">
            <a:extLst>
              <a:ext uri="{FF2B5EF4-FFF2-40B4-BE49-F238E27FC236}">
                <a16:creationId xmlns:a16="http://schemas.microsoft.com/office/drawing/2014/main" id="{2C0353F1-9E03-B9A0-7340-8726899365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1200" y="3316026"/>
            <a:ext cx="3429599" cy="24015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438" name="Picture 6">
            <a:extLst>
              <a:ext uri="{FF2B5EF4-FFF2-40B4-BE49-F238E27FC236}">
                <a16:creationId xmlns:a16="http://schemas.microsoft.com/office/drawing/2014/main" id="{7EC8EC56-7E61-BA8B-AF36-EB07B9026F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6996" y="3316026"/>
            <a:ext cx="3429599" cy="24015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713313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77E3B-C8DE-F07E-AF0F-4CF353351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1AQ3_Triple Mutation – PHI 9.5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8302CB-C012-00EF-0450-25C9128C2913}"/>
              </a:ext>
            </a:extLst>
          </p:cNvPr>
          <p:cNvSpPr txBox="1"/>
          <p:nvPr/>
        </p:nvSpPr>
        <p:spPr>
          <a:xfrm>
            <a:off x="838200" y="1757723"/>
            <a:ext cx="609499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Pearson rank correlation coefficient: -0.121 </a:t>
            </a:r>
          </a:p>
          <a:p>
            <a:r>
              <a:rPr lang="en-US" dirty="0"/>
              <a:t>Spearman rank correlation coefficient: -0.120 </a:t>
            </a:r>
          </a:p>
          <a:p>
            <a:r>
              <a:rPr lang="en-US" dirty="0"/>
              <a:t>Coefficient of Determination (R^2): 0.015</a:t>
            </a:r>
          </a:p>
        </p:txBody>
      </p:sp>
      <p:pic>
        <p:nvPicPr>
          <p:cNvPr id="3080" name="Picture 8">
            <a:extLst>
              <a:ext uri="{FF2B5EF4-FFF2-40B4-BE49-F238E27FC236}">
                <a16:creationId xmlns:a16="http://schemas.microsoft.com/office/drawing/2014/main" id="{91AE3F90-6DE4-B5C6-F51B-DB444EBE48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834" y="3610515"/>
            <a:ext cx="3313861" cy="23561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2" name="Picture 10">
            <a:extLst>
              <a:ext uri="{FF2B5EF4-FFF2-40B4-BE49-F238E27FC236}">
                <a16:creationId xmlns:a16="http://schemas.microsoft.com/office/drawing/2014/main" id="{943DC4FE-4C5A-ED90-9A8F-35B38F6469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9069" y="3610515"/>
            <a:ext cx="3313861" cy="23561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4" name="Picture 12">
            <a:extLst>
              <a:ext uri="{FF2B5EF4-FFF2-40B4-BE49-F238E27FC236}">
                <a16:creationId xmlns:a16="http://schemas.microsoft.com/office/drawing/2014/main" id="{6365D3A7-2819-173F-C59C-74C386CFE5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6304" y="3610515"/>
            <a:ext cx="3313862" cy="23561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597898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77E3B-C8DE-F07E-AF0F-4CF353351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1AQ3(AS)_Triple Mutation – PHI 9.5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8302CB-C012-00EF-0450-25C9128C2913}"/>
              </a:ext>
            </a:extLst>
          </p:cNvPr>
          <p:cNvSpPr txBox="1"/>
          <p:nvPr/>
        </p:nvSpPr>
        <p:spPr>
          <a:xfrm>
            <a:off x="838200" y="1757723"/>
            <a:ext cx="609499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Pearson rank correlation coefficient: -0.326 </a:t>
            </a:r>
          </a:p>
          <a:p>
            <a:r>
              <a:rPr lang="en-US" dirty="0"/>
              <a:t>Spearman rank correlation coefficient: -0.285 </a:t>
            </a:r>
          </a:p>
          <a:p>
            <a:r>
              <a:rPr lang="en-US" dirty="0"/>
              <a:t>Coefficient of Determination (R^2): 0.107</a:t>
            </a:r>
          </a:p>
        </p:txBody>
      </p:sp>
      <p:pic>
        <p:nvPicPr>
          <p:cNvPr id="16392" name="Picture 8">
            <a:extLst>
              <a:ext uri="{FF2B5EF4-FFF2-40B4-BE49-F238E27FC236}">
                <a16:creationId xmlns:a16="http://schemas.microsoft.com/office/drawing/2014/main" id="{431C64AC-0CCB-CBCD-94EA-28CF1C5A03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685" y="3588408"/>
            <a:ext cx="3482772" cy="24388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94" name="Picture 10">
            <a:extLst>
              <a:ext uri="{FF2B5EF4-FFF2-40B4-BE49-F238E27FC236}">
                <a16:creationId xmlns:a16="http://schemas.microsoft.com/office/drawing/2014/main" id="{C860675D-AAD3-24C3-0A10-5A85CAF7D6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4614" y="3581544"/>
            <a:ext cx="3482772" cy="24388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96" name="Picture 12">
            <a:extLst>
              <a:ext uri="{FF2B5EF4-FFF2-40B4-BE49-F238E27FC236}">
                <a16:creationId xmlns:a16="http://schemas.microsoft.com/office/drawing/2014/main" id="{B542424B-7898-918B-C8C4-5FB7724E23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7543" y="3588408"/>
            <a:ext cx="3482772" cy="24388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027922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77E3B-C8DE-F07E-AF0F-4CF353351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1AQ3_Quadruple Mutation – PHI 9.5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8302CB-C012-00EF-0450-25C9128C2913}"/>
              </a:ext>
            </a:extLst>
          </p:cNvPr>
          <p:cNvSpPr txBox="1"/>
          <p:nvPr/>
        </p:nvSpPr>
        <p:spPr>
          <a:xfrm>
            <a:off x="838200" y="1757723"/>
            <a:ext cx="609499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Pearson rank correlation coefficient: 0.063 </a:t>
            </a:r>
          </a:p>
          <a:p>
            <a:r>
              <a:rPr lang="en-US" dirty="0"/>
              <a:t>Spearman rank correlation coefficient: 0.074 </a:t>
            </a:r>
          </a:p>
          <a:p>
            <a:r>
              <a:rPr lang="en-US" dirty="0"/>
              <a:t>Coefficient of Determination (R^2): 0.004</a:t>
            </a: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D96B6368-4EE1-2A98-631D-92818AE12F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073" y="3312544"/>
            <a:ext cx="3465044" cy="2451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>
            <a:extLst>
              <a:ext uri="{FF2B5EF4-FFF2-40B4-BE49-F238E27FC236}">
                <a16:creationId xmlns:a16="http://schemas.microsoft.com/office/drawing/2014/main" id="{CE576320-07CA-BFC1-E106-975FDE5268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3478" y="3312544"/>
            <a:ext cx="3465044" cy="2451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0" name="Picture 6">
            <a:extLst>
              <a:ext uri="{FF2B5EF4-FFF2-40B4-BE49-F238E27FC236}">
                <a16:creationId xmlns:a16="http://schemas.microsoft.com/office/drawing/2014/main" id="{806DDFCF-D4A8-2D3B-73FC-EEEC52DD74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88883" y="3312544"/>
            <a:ext cx="3465044" cy="2451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493447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77E3B-C8DE-F07E-AF0F-4CF353351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1AQ3(AS)_Quadruple Mutation – PHI 9.5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8302CB-C012-00EF-0450-25C9128C2913}"/>
              </a:ext>
            </a:extLst>
          </p:cNvPr>
          <p:cNvSpPr txBox="1"/>
          <p:nvPr/>
        </p:nvSpPr>
        <p:spPr>
          <a:xfrm>
            <a:off x="838200" y="1757723"/>
            <a:ext cx="609499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Pearson rank correlation coefficient: -0.006 </a:t>
            </a:r>
          </a:p>
          <a:p>
            <a:r>
              <a:rPr lang="en-US" dirty="0"/>
              <a:t>Spearman rank correlation coefficient: 0.015 </a:t>
            </a:r>
          </a:p>
          <a:p>
            <a:r>
              <a:rPr lang="en-US" dirty="0"/>
              <a:t>Coefficient of Determination (R^2): 0.000</a:t>
            </a:r>
          </a:p>
        </p:txBody>
      </p:sp>
      <p:pic>
        <p:nvPicPr>
          <p:cNvPr id="14338" name="Picture 2">
            <a:extLst>
              <a:ext uri="{FF2B5EF4-FFF2-40B4-BE49-F238E27FC236}">
                <a16:creationId xmlns:a16="http://schemas.microsoft.com/office/drawing/2014/main" id="{BE002287-71D9-38E8-2A0C-DA777538D5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1512" y="3529178"/>
            <a:ext cx="3514300" cy="2448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40" name="Picture 4">
            <a:extLst>
              <a:ext uri="{FF2B5EF4-FFF2-40B4-BE49-F238E27FC236}">
                <a16:creationId xmlns:a16="http://schemas.microsoft.com/office/drawing/2014/main" id="{973BF1F2-B0A5-C39A-17BB-496B4D69C6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8850" y="3529178"/>
            <a:ext cx="3514300" cy="2448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42" name="Picture 6">
            <a:extLst>
              <a:ext uri="{FF2B5EF4-FFF2-40B4-BE49-F238E27FC236}">
                <a16:creationId xmlns:a16="http://schemas.microsoft.com/office/drawing/2014/main" id="{6F440612-6B61-0515-E994-99A190F072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87423" y="3529178"/>
            <a:ext cx="3514300" cy="2448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842565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77E3B-C8DE-F07E-AF0F-4CF353351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1AQ3_Quintuple Mutation – PHI 9.5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8302CB-C012-00EF-0450-25C9128C2913}"/>
              </a:ext>
            </a:extLst>
          </p:cNvPr>
          <p:cNvSpPr txBox="1"/>
          <p:nvPr/>
        </p:nvSpPr>
        <p:spPr>
          <a:xfrm>
            <a:off x="838200" y="1757723"/>
            <a:ext cx="609499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Pearson rank correlation coefficient: -0.205 </a:t>
            </a:r>
          </a:p>
          <a:p>
            <a:r>
              <a:rPr lang="en-US" dirty="0"/>
              <a:t>Spearman rank correlation coefficient: -0.077 </a:t>
            </a:r>
          </a:p>
          <a:p>
            <a:r>
              <a:rPr lang="en-US" dirty="0"/>
              <a:t>Coefficient of Determination (R^2): 0.042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4A1BDCF4-33C0-0F60-B341-64F8B7B0A3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781" y="3429000"/>
            <a:ext cx="3550726" cy="25245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>
            <a:extLst>
              <a:ext uri="{FF2B5EF4-FFF2-40B4-BE49-F238E27FC236}">
                <a16:creationId xmlns:a16="http://schemas.microsoft.com/office/drawing/2014/main" id="{8E779D71-E7B3-29FD-1BFB-045C5A8ABB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0637" y="3428997"/>
            <a:ext cx="3550726" cy="25245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>
            <a:extLst>
              <a:ext uri="{FF2B5EF4-FFF2-40B4-BE49-F238E27FC236}">
                <a16:creationId xmlns:a16="http://schemas.microsoft.com/office/drawing/2014/main" id="{682F1343-9F17-7DA7-DF9D-5FEDF79A7C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83374" y="3428998"/>
            <a:ext cx="3550726" cy="25245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090112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77E3B-C8DE-F07E-AF0F-4CF353351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1AQ3(AS)_Quintuple Mutation – PHI 9.5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8302CB-C012-00EF-0450-25C9128C2913}"/>
              </a:ext>
            </a:extLst>
          </p:cNvPr>
          <p:cNvSpPr txBox="1"/>
          <p:nvPr/>
        </p:nvSpPr>
        <p:spPr>
          <a:xfrm>
            <a:off x="838200" y="1757723"/>
            <a:ext cx="609499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Pearson rank correlation coefficient: 0.547 </a:t>
            </a:r>
          </a:p>
          <a:p>
            <a:r>
              <a:rPr lang="en-US" dirty="0"/>
              <a:t>Spearman rank correlation coefficient: 0.513 </a:t>
            </a:r>
          </a:p>
          <a:p>
            <a:r>
              <a:rPr lang="en-US" dirty="0"/>
              <a:t>Coefficient of Determination (R^2): 0.300</a:t>
            </a:r>
          </a:p>
        </p:txBody>
      </p:sp>
      <p:pic>
        <p:nvPicPr>
          <p:cNvPr id="13314" name="Picture 2">
            <a:extLst>
              <a:ext uri="{FF2B5EF4-FFF2-40B4-BE49-F238E27FC236}">
                <a16:creationId xmlns:a16="http://schemas.microsoft.com/office/drawing/2014/main" id="{07E761D4-4B9A-7402-55A0-AD209346C6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794" y="3512142"/>
            <a:ext cx="3498610" cy="2449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16" name="Picture 4">
            <a:extLst>
              <a:ext uri="{FF2B5EF4-FFF2-40B4-BE49-F238E27FC236}">
                <a16:creationId xmlns:a16="http://schemas.microsoft.com/office/drawing/2014/main" id="{B11B7985-2ADF-DA8A-753F-E8B4D48BAF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6695" y="3512142"/>
            <a:ext cx="3498610" cy="2449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18" name="Picture 6">
            <a:extLst>
              <a:ext uri="{FF2B5EF4-FFF2-40B4-BE49-F238E27FC236}">
                <a16:creationId xmlns:a16="http://schemas.microsoft.com/office/drawing/2014/main" id="{463A1213-D604-35AE-3DC5-BD868C4736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6596" y="3512142"/>
            <a:ext cx="3498610" cy="2449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034943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309</Words>
  <Application>Microsoft Macintosh PowerPoint</Application>
  <PresentationFormat>Widescreen</PresentationFormat>
  <Paragraphs>41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1aq3 – RNA Complex</vt:lpstr>
      <vt:lpstr>1AQ3_Single Mutation – PHI 9.5</vt:lpstr>
      <vt:lpstr>1AQ3(AS)_Single Mutation – PHI 9.5</vt:lpstr>
      <vt:lpstr>1AQ3_Double Mutation – PHI 9.5</vt:lpstr>
      <vt:lpstr>1AQ3(AS)_Double Mutation – PHI 9.5</vt:lpstr>
      <vt:lpstr>1AQ3_Triple Mutation – PHI 9.5</vt:lpstr>
      <vt:lpstr>1AQ3(AS)_Triple Mutation – PHI 9.5</vt:lpstr>
      <vt:lpstr>1AQ3_Quadruple Mutation – PHI 9.5</vt:lpstr>
      <vt:lpstr>1AQ3(AS)_Quadruple Mutation – PHI 9.5</vt:lpstr>
      <vt:lpstr>1AQ3_Quintuple Mutation – PHI 9.5</vt:lpstr>
      <vt:lpstr>1AQ3(AS)_Quintuple Mutation – PHI 9.5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1aq3 – RNA Complex</dc:title>
  <dc:creator>Eduardo Cisneros</dc:creator>
  <cp:lastModifiedBy>Eduardo Cisneros</cp:lastModifiedBy>
  <cp:revision>1</cp:revision>
  <dcterms:created xsi:type="dcterms:W3CDTF">2024-05-28T17:36:02Z</dcterms:created>
  <dcterms:modified xsi:type="dcterms:W3CDTF">2024-05-28T17:38:17Z</dcterms:modified>
</cp:coreProperties>
</file>