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57" r:id="rId4"/>
    <p:sldId id="264" r:id="rId5"/>
    <p:sldId id="278" r:id="rId6"/>
    <p:sldId id="269" r:id="rId7"/>
    <p:sldId id="258" r:id="rId8"/>
    <p:sldId id="265" r:id="rId9"/>
    <p:sldId id="277" r:id="rId10"/>
    <p:sldId id="270" r:id="rId11"/>
    <p:sldId id="260" r:id="rId12"/>
    <p:sldId id="266" r:id="rId13"/>
    <p:sldId id="276" r:id="rId14"/>
    <p:sldId id="271" r:id="rId15"/>
    <p:sldId id="262" r:id="rId16"/>
    <p:sldId id="267" r:id="rId17"/>
    <p:sldId id="275" r:id="rId18"/>
    <p:sldId id="272" r:id="rId19"/>
    <p:sldId id="263" r:id="rId20"/>
    <p:sldId id="268" r:id="rId21"/>
    <p:sldId id="274" r:id="rId22"/>
    <p:sldId id="27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57"/>
    <p:restoredTop sz="94787"/>
  </p:normalViewPr>
  <p:slideViewPr>
    <p:cSldViewPr snapToGrid="0">
      <p:cViewPr varScale="1">
        <p:scale>
          <a:sx n="102" d="100"/>
          <a:sy n="102" d="100"/>
        </p:scale>
        <p:origin x="200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93BB0-708F-FA98-B9A3-C96FF732D3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0EDB03-35D4-54AF-B95C-D9CAF6A5CD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75AA7-767B-4FDF-6D3E-F706A7492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9EA0-F1F0-6945-A897-517B500ABEA6}" type="datetimeFigureOut">
              <a:rPr lang="en-US" smtClean="0"/>
              <a:t>5/16/24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8A1F4-0850-D30E-C778-AB6EF0F82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11C27-6D09-4BEA-C1F5-9FF0378A0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BE708-E8FD-CD47-9473-4C90E5495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189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68616-28B1-1B39-FA01-D54C61F66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5A29D-9DB5-E80A-23C5-EBFE5B834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14302-AA3F-B31B-F220-770E4117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9EA0-F1F0-6945-A897-517B500ABEA6}" type="datetimeFigureOut">
              <a:rPr lang="en-US" smtClean="0"/>
              <a:t>5/16/24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54082-4169-582F-B62F-3339CDF13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F0662-DA65-082B-2DB3-03FF114CB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BE708-E8FD-CD47-9473-4C90E5495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202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69030-78C1-99C7-D35C-7D55B4840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5C83D-09B0-DB06-6706-711E4C29E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C19F0-905C-C25D-3AD2-BDD1247A6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9EA0-F1F0-6945-A897-517B500ABEA6}" type="datetimeFigureOut">
              <a:rPr lang="en-US" smtClean="0"/>
              <a:t>5/16/24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4E70C-6EB7-07D4-7055-4CCA3DFE7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5D2FE-6FAC-4D8F-179A-F1A304297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BE708-E8FD-CD47-9473-4C90E5495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570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5439B-6C43-A6F9-6313-EBE293AC4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05CB3-01FB-1648-CCEE-FAB968B9B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7842F8-E930-24DD-2B58-72FBC7E0D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D88A4-F455-2FDB-397F-716D641B0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9EA0-F1F0-6945-A897-517B500ABEA6}" type="datetimeFigureOut">
              <a:rPr lang="en-US" smtClean="0"/>
              <a:t>5/16/24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7F9500-5E5E-8BB0-5C76-C56575419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2A709B-021B-8E39-91BD-DDB828202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BE708-E8FD-CD47-9473-4C90E5495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085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B1544-621B-F41A-40A0-D698138EA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20D4FC-9EA7-9322-C03D-A633A1F8E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55E2CF-C3F4-DC3E-15F8-95093BA09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CB6360-A13E-5D1E-1CA4-C991816FE1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68CA61-EDD2-6772-32D8-4A51810C3F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8DE1D9-452D-DC89-5F66-ADC018B45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9EA0-F1F0-6945-A897-517B500ABEA6}" type="datetimeFigureOut">
              <a:rPr lang="en-US" smtClean="0"/>
              <a:t>5/16/24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EA3C77-E67D-EE1D-1380-F07EEFF50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19D67F-FAC2-A053-BF75-36353B1CE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BE708-E8FD-CD47-9473-4C90E5495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58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827C1-55C3-E045-809D-F09138597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0B96AF-DA52-CA00-AE92-569ED11FA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9EA0-F1F0-6945-A897-517B500ABEA6}" type="datetimeFigureOut">
              <a:rPr lang="en-US" smtClean="0"/>
              <a:t>5/16/24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F04281-C9F6-0AF6-4D92-B191C6B30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CCBE29-0B18-5BEC-C8E6-50B7BE769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BE708-E8FD-CD47-9473-4C90E5495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324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0D5D0D-9E64-B9A7-1B8A-118E30A86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9EA0-F1F0-6945-A897-517B500ABEA6}" type="datetimeFigureOut">
              <a:rPr lang="en-US" smtClean="0"/>
              <a:t>5/16/24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4E3013-D0F6-F293-02F4-0596B978E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8CCB4-9CC3-BD48-1C4B-12D1D108D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BE708-E8FD-CD47-9473-4C90E5495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426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76D7A-F6E2-DD62-2564-D5AC1FB05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98575-DAC4-5F53-413A-7F5DBC269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17526D-5B85-95D5-36C2-49A04F5C0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86FE99-0711-C3EF-5E6D-121CF4B70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9EA0-F1F0-6945-A897-517B500ABEA6}" type="datetimeFigureOut">
              <a:rPr lang="en-US" smtClean="0"/>
              <a:t>5/16/24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DE1375-478D-EEF5-522B-65037B364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7C7B0B-0841-5076-0206-A30784EAA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BE708-E8FD-CD47-9473-4C90E5495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097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4577E-3E9E-A9CA-937A-9947D12C3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C98BE1-7A82-69C5-CFF0-55FC0A4C86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D66718-9AFA-1214-8EB9-12CE17D764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09075-725F-0146-63E3-23D073A84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9EA0-F1F0-6945-A897-517B500ABEA6}" type="datetimeFigureOut">
              <a:rPr lang="en-US" smtClean="0"/>
              <a:t>5/16/24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4ED5DC-F78B-2DAD-F25B-C59981448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8D85A-A66A-A891-26C6-C599BB7FC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BE708-E8FD-CD47-9473-4C90E5495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493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B8A38-0835-D1E9-9AAF-5004F0025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D6E8BD-785E-AC2C-0E43-06F99E700B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578DF-E0E0-EFAD-424B-90BF9947E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9EA0-F1F0-6945-A897-517B500ABEA6}" type="datetimeFigureOut">
              <a:rPr lang="en-US" smtClean="0"/>
              <a:t>5/16/24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B0AE0-635B-0326-1059-FCAC238CF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A1EFE-4AAB-0EBE-844F-94645384C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BE708-E8FD-CD47-9473-4C90E5495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144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C4CCA1-022F-0155-8229-96FA1B2D27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2F64EA-A6C1-06BA-DCD9-FB0D5A03E4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EA436-F241-B2F6-62EA-F77EFDD61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9EA0-F1F0-6945-A897-517B500ABEA6}" type="datetimeFigureOut">
              <a:rPr lang="en-US" smtClean="0"/>
              <a:t>5/16/24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B0078-00CA-79BC-F240-106C74057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7B1E1-4D1F-4437-6DE0-D27A3170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BE708-E8FD-CD47-9473-4C90E5495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448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B49769-5A8E-552E-7588-AF9700197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429018-2E13-5DE2-ACE6-B1791A4C0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FE85D-B032-3F79-02CC-22B753FDAA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639EA0-F1F0-6945-A897-517B500ABEA6}" type="datetimeFigureOut">
              <a:rPr lang="en-US" smtClean="0"/>
              <a:t>5/16/24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E2F4D-6AE9-D23E-4760-5D2F415904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F64AC-CC54-5C2F-4847-F5BF39C610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FBE708-E8FD-CD47-9473-4C90E5495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936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27CF6-19B8-AA20-E439-1D5C2D3865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Mutation Graphs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9AFF37-1758-791A-7384-673F86EC68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088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81F93-39F6-0360-A88F-BC19D6B65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1-3 Mutations – PHI 9.5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27D03B-5F7A-8092-5D82-9CF16F263DDE}"/>
              </a:ext>
            </a:extLst>
          </p:cNvPr>
          <p:cNvSpPr txBox="1"/>
          <p:nvPr/>
        </p:nvSpPr>
        <p:spPr>
          <a:xfrm>
            <a:off x="710022" y="1921225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0.503 </a:t>
            </a:r>
          </a:p>
          <a:p>
            <a:r>
              <a:rPr lang="en-US" dirty="0"/>
              <a:t>Spearman rank correlation coefficient: 0.489 </a:t>
            </a:r>
          </a:p>
          <a:p>
            <a:r>
              <a:rPr lang="en-US" dirty="0"/>
              <a:t>Coefficient of Determination (R^2): 0.253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303A800-0042-0379-D253-BB837B3F4B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500" y="3590813"/>
            <a:ext cx="3532947" cy="2511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0AA2A7BC-7A79-F9EE-401B-65192331A5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9526" y="3590811"/>
            <a:ext cx="3532948" cy="2511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CA3DF125-0A31-04A8-0F7D-53F2025AE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833" y="3590811"/>
            <a:ext cx="3532948" cy="2511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2CDBDD-2442-A319-0B67-33DB8920D3E0}"/>
              </a:ext>
            </a:extLst>
          </p:cNvPr>
          <p:cNvSpPr txBox="1"/>
          <p:nvPr/>
        </p:nvSpPr>
        <p:spPr>
          <a:xfrm>
            <a:off x="8849638" y="18475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889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2BU1_Single Mutation – PHI 9.5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886FED-8565-E8AD-0732-902C3367A438}"/>
              </a:ext>
            </a:extLst>
          </p:cNvPr>
          <p:cNvSpPr txBox="1"/>
          <p:nvPr/>
        </p:nvSpPr>
        <p:spPr>
          <a:xfrm>
            <a:off x="726243" y="1798936"/>
            <a:ext cx="60980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0.606 </a:t>
            </a:r>
          </a:p>
          <a:p>
            <a:r>
              <a:rPr lang="en-US" dirty="0"/>
              <a:t>Spearman rank correlation coefficient: 0.626 </a:t>
            </a:r>
          </a:p>
          <a:p>
            <a:r>
              <a:rPr lang="en-US" dirty="0"/>
              <a:t>Coefficient of Determination (R^2): 0.368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B68732D-7ED7-97C2-A287-FD13B404F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22" y="3183412"/>
            <a:ext cx="3903144" cy="277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5837E3A-440B-37B4-DAEE-D8A45DC27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4428" y="3183412"/>
            <a:ext cx="3903144" cy="277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7A10008F-5645-1E8E-7ED0-7F252BD20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1835" y="3183412"/>
            <a:ext cx="3903143" cy="277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2038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1AQ3_Single Mutation – PHI 9.5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886FED-8565-E8AD-0732-902C3367A438}"/>
              </a:ext>
            </a:extLst>
          </p:cNvPr>
          <p:cNvSpPr txBox="1"/>
          <p:nvPr/>
        </p:nvSpPr>
        <p:spPr>
          <a:xfrm>
            <a:off x="726243" y="1798936"/>
            <a:ext cx="60980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-0.078 </a:t>
            </a:r>
          </a:p>
          <a:p>
            <a:r>
              <a:rPr lang="en-US" dirty="0"/>
              <a:t>Spearman rank correlation coefficient: -0.091 </a:t>
            </a:r>
          </a:p>
          <a:p>
            <a:r>
              <a:rPr lang="en-US" dirty="0"/>
              <a:t>Coefficient of Determination (R^2): 0.006</a:t>
            </a: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ED6EAED4-81D1-6A28-96B9-E4A6D73D9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756" y="3429000"/>
            <a:ext cx="3599615" cy="2619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169D52E8-44B6-17FC-C431-14EC0D0F9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6192" y="3428997"/>
            <a:ext cx="3599615" cy="2619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04C954EE-85FC-ED77-227E-3820E1ED0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5651" y="3428997"/>
            <a:ext cx="3599615" cy="2619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2781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1AQ3(AS)_Single Mutation – PHI 9.5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886FED-8565-E8AD-0732-902C3367A438}"/>
              </a:ext>
            </a:extLst>
          </p:cNvPr>
          <p:cNvSpPr txBox="1"/>
          <p:nvPr/>
        </p:nvSpPr>
        <p:spPr>
          <a:xfrm>
            <a:off x="726243" y="1798936"/>
            <a:ext cx="60980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-0.240 </a:t>
            </a:r>
          </a:p>
          <a:p>
            <a:r>
              <a:rPr lang="en-US" dirty="0"/>
              <a:t>Spearman rank correlation coefficient: -0.045 </a:t>
            </a:r>
          </a:p>
          <a:p>
            <a:r>
              <a:rPr lang="en-US" dirty="0"/>
              <a:t>Coefficient of Determination (R^2): 0.058</a:t>
            </a:r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91215C76-5F40-36F1-D685-D57F7676A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888" y="3700732"/>
            <a:ext cx="3225748" cy="2258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>
            <a:extLst>
              <a:ext uri="{FF2B5EF4-FFF2-40B4-BE49-F238E27FC236}">
                <a16:creationId xmlns:a16="http://schemas.microsoft.com/office/drawing/2014/main" id="{C9AC2EFC-0F78-8FED-1CD0-23C527A85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4847" y="3700732"/>
            <a:ext cx="3225748" cy="2258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2" name="Picture 6">
            <a:extLst>
              <a:ext uri="{FF2B5EF4-FFF2-40B4-BE49-F238E27FC236}">
                <a16:creationId xmlns:a16="http://schemas.microsoft.com/office/drawing/2014/main" id="{F86CBA87-CF40-9C2F-72C1-F33F2AF0C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210" y="3638588"/>
            <a:ext cx="3225748" cy="2258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0904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2BU1+1AQ3_Single Mutation – PHI 9.5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886FED-8565-E8AD-0732-902C3367A438}"/>
              </a:ext>
            </a:extLst>
          </p:cNvPr>
          <p:cNvSpPr txBox="1"/>
          <p:nvPr/>
        </p:nvSpPr>
        <p:spPr>
          <a:xfrm>
            <a:off x="726243" y="1798936"/>
            <a:ext cx="60980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0.281 </a:t>
            </a:r>
          </a:p>
          <a:p>
            <a:r>
              <a:rPr lang="en-US" dirty="0"/>
              <a:t>Spearman rank correlation coefficient: 0.281 </a:t>
            </a:r>
          </a:p>
          <a:p>
            <a:r>
              <a:rPr lang="en-US" dirty="0"/>
              <a:t>Coefficient of Determination (R^2): 0.079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C44170F2-DD9D-2ABB-92B7-F6D9876D3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773" y="3429000"/>
            <a:ext cx="3598532" cy="2558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E0B2983D-5E7C-DAEB-811A-316DACFC4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6734" y="3429000"/>
            <a:ext cx="3598532" cy="2558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8B131D8D-0BDD-43F7-226D-C7DC78267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2695" y="3429000"/>
            <a:ext cx="3598532" cy="2558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4593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2BU1_Double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944671" y="1690688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Pearson rank correlation coefficient: 0.490 </a:t>
            </a:r>
          </a:p>
          <a:p>
            <a:r>
              <a:rPr lang="en-US"/>
              <a:t>Spearman rank correlation coefficient: 0.488 </a:t>
            </a:r>
          </a:p>
          <a:p>
            <a:r>
              <a:rPr lang="en-US"/>
              <a:t>Coefficient of Determination (R^2): 0.240</a:t>
            </a:r>
            <a:endParaRPr lang="en-US" dirty="0"/>
          </a:p>
        </p:txBody>
      </p:sp>
      <p:pic>
        <p:nvPicPr>
          <p:cNvPr id="2062" name="Picture 14">
            <a:extLst>
              <a:ext uri="{FF2B5EF4-FFF2-40B4-BE49-F238E27FC236}">
                <a16:creationId xmlns:a16="http://schemas.microsoft.com/office/drawing/2014/main" id="{16581E37-EA91-74D2-CF2E-9640457A6A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794" y="3435467"/>
            <a:ext cx="3623609" cy="257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>
            <a:extLst>
              <a:ext uri="{FF2B5EF4-FFF2-40B4-BE49-F238E27FC236}">
                <a16:creationId xmlns:a16="http://schemas.microsoft.com/office/drawing/2014/main" id="{471403BB-E539-3D44-5B3F-8C3F5A23A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817" y="3435466"/>
            <a:ext cx="3623609" cy="2576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>
            <a:extLst>
              <a:ext uri="{FF2B5EF4-FFF2-40B4-BE49-F238E27FC236}">
                <a16:creationId xmlns:a16="http://schemas.microsoft.com/office/drawing/2014/main" id="{6BAC9327-8E8B-A803-C280-19330F637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597" y="3435466"/>
            <a:ext cx="3623609" cy="2576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8526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1AQ3_Double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944671" y="1690688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-0.069 </a:t>
            </a:r>
          </a:p>
          <a:p>
            <a:r>
              <a:rPr lang="en-US" dirty="0"/>
              <a:t>Spearman rank correlation coefficient: -0.076 </a:t>
            </a:r>
          </a:p>
          <a:p>
            <a:r>
              <a:rPr lang="en-US" dirty="0"/>
              <a:t>Coefficient of Determination (R^2): 0.005</a:t>
            </a: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586A53B8-17EF-0184-7DAA-A58675573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871" y="3377028"/>
            <a:ext cx="3736556" cy="2656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4C3A332F-F766-F726-7D12-E96D233DA3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5625" y="3374250"/>
            <a:ext cx="3736556" cy="2656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306FF2EF-FB66-2957-BBAC-1EAA23339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4379" y="3374250"/>
            <a:ext cx="3736556" cy="2656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5706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1AQ3(AS)_Double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944671" y="1690688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-0.353 </a:t>
            </a:r>
          </a:p>
          <a:p>
            <a:r>
              <a:rPr lang="en-US" dirty="0"/>
              <a:t>Spearman rank correlation coefficient: -0.290 </a:t>
            </a:r>
          </a:p>
          <a:p>
            <a:r>
              <a:rPr lang="en-US" dirty="0"/>
              <a:t>Coefficient of Determination (R^2): 0.125</a:t>
            </a:r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67C7C5FA-41D8-B16D-237D-041CB7985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58" y="3316026"/>
            <a:ext cx="3429599" cy="2401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6" name="Picture 4">
            <a:extLst>
              <a:ext uri="{FF2B5EF4-FFF2-40B4-BE49-F238E27FC236}">
                <a16:creationId xmlns:a16="http://schemas.microsoft.com/office/drawing/2014/main" id="{2C0353F1-9E03-B9A0-7340-872689936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200" y="3316026"/>
            <a:ext cx="3429599" cy="2401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8" name="Picture 6">
            <a:extLst>
              <a:ext uri="{FF2B5EF4-FFF2-40B4-BE49-F238E27FC236}">
                <a16:creationId xmlns:a16="http://schemas.microsoft.com/office/drawing/2014/main" id="{7EC8EC56-7E61-BA8B-AF36-EB07B9026F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6996" y="3316026"/>
            <a:ext cx="3429599" cy="2401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1331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2BU1+1AQ3_Double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944671" y="1690688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0.329 </a:t>
            </a:r>
          </a:p>
          <a:p>
            <a:r>
              <a:rPr lang="en-US" dirty="0"/>
              <a:t>Spearman rank correlation coefficient: 0.331 </a:t>
            </a:r>
          </a:p>
          <a:p>
            <a:r>
              <a:rPr lang="en-US" dirty="0"/>
              <a:t>Coefficient of Determination (R^2): 0.108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FFAD9B70-070D-1ECF-E004-963EA22E0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400" y="3429000"/>
            <a:ext cx="3500324" cy="2488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85978B57-A9C9-0630-3BD7-B84C312DB0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5838" y="3429000"/>
            <a:ext cx="3500324" cy="2488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>
            <a:extLst>
              <a:ext uri="{FF2B5EF4-FFF2-40B4-BE49-F238E27FC236}">
                <a16:creationId xmlns:a16="http://schemas.microsoft.com/office/drawing/2014/main" id="{914828D2-7735-4F27-0C42-F728CC861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2275" y="3429000"/>
            <a:ext cx="3500325" cy="2488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2693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2BU1_Triple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0.534 </a:t>
            </a:r>
          </a:p>
          <a:p>
            <a:r>
              <a:rPr lang="en-US" dirty="0"/>
              <a:t>Spearman rank correlation coefficient: 0.564 </a:t>
            </a:r>
          </a:p>
          <a:p>
            <a:r>
              <a:rPr lang="en-US" dirty="0"/>
              <a:t>Coefficient of Determination (R^2): 0.285</a:t>
            </a: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2F085580-2FB3-EBD0-07C5-BBF1047EA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376" y="3426256"/>
            <a:ext cx="3470319" cy="246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2FDCCDD0-180B-E8EA-1B16-ECDF06A0D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0840" y="3426256"/>
            <a:ext cx="3470319" cy="246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55CA8150-3530-44F2-F911-5C56265A8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6304" y="3426256"/>
            <a:ext cx="3470319" cy="246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3126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1AQ3_Triple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-0.121 </a:t>
            </a:r>
          </a:p>
          <a:p>
            <a:r>
              <a:rPr lang="en-US" dirty="0"/>
              <a:t>Spearman rank correlation coefficient: -0.120 </a:t>
            </a:r>
          </a:p>
          <a:p>
            <a:r>
              <a:rPr lang="en-US" dirty="0"/>
              <a:t>Coefficient of Determination (R^2): 0.015</a:t>
            </a:r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91AE3F90-6DE4-B5C6-F51B-DB444EBE48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834" y="3610515"/>
            <a:ext cx="3313861" cy="2356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943DC4FE-4C5A-ED90-9A8F-35B38F6469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9069" y="3610515"/>
            <a:ext cx="3313861" cy="2356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>
            <a:extLst>
              <a:ext uri="{FF2B5EF4-FFF2-40B4-BE49-F238E27FC236}">
                <a16:creationId xmlns:a16="http://schemas.microsoft.com/office/drawing/2014/main" id="{6365D3A7-2819-173F-C59C-74C386CFE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6304" y="3610515"/>
            <a:ext cx="3313862" cy="2356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9789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1AQ3(AS)_Triple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-0.326 </a:t>
            </a:r>
          </a:p>
          <a:p>
            <a:r>
              <a:rPr lang="en-US" dirty="0"/>
              <a:t>Spearman rank correlation coefficient: -0.285 </a:t>
            </a:r>
          </a:p>
          <a:p>
            <a:r>
              <a:rPr lang="en-US" dirty="0"/>
              <a:t>Coefficient of Determination (R^2): 0.107</a:t>
            </a:r>
          </a:p>
        </p:txBody>
      </p:sp>
      <p:pic>
        <p:nvPicPr>
          <p:cNvPr id="16392" name="Picture 8">
            <a:extLst>
              <a:ext uri="{FF2B5EF4-FFF2-40B4-BE49-F238E27FC236}">
                <a16:creationId xmlns:a16="http://schemas.microsoft.com/office/drawing/2014/main" id="{431C64AC-0CCB-CBCD-94EA-28CF1C5A0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685" y="3588408"/>
            <a:ext cx="3482772" cy="2438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4" name="Picture 10">
            <a:extLst>
              <a:ext uri="{FF2B5EF4-FFF2-40B4-BE49-F238E27FC236}">
                <a16:creationId xmlns:a16="http://schemas.microsoft.com/office/drawing/2014/main" id="{C860675D-AAD3-24C3-0A10-5A85CAF7D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4614" y="3581544"/>
            <a:ext cx="3482772" cy="2438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6" name="Picture 12">
            <a:extLst>
              <a:ext uri="{FF2B5EF4-FFF2-40B4-BE49-F238E27FC236}">
                <a16:creationId xmlns:a16="http://schemas.microsoft.com/office/drawing/2014/main" id="{B542424B-7898-918B-C8C4-5FB7724E2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7543" y="3588408"/>
            <a:ext cx="3482772" cy="2438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2792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2BU1+1AQ3_Triple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0.299 </a:t>
            </a:r>
          </a:p>
          <a:p>
            <a:r>
              <a:rPr lang="en-US" dirty="0"/>
              <a:t>Spearman rank correlation coefficient: 0.299 </a:t>
            </a:r>
          </a:p>
          <a:p>
            <a:r>
              <a:rPr lang="en-US" dirty="0"/>
              <a:t>Coefficient of Determination (R^2): 0.090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ABA032D6-5602-93B9-E6A4-9AB2EEFFF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95" y="3320249"/>
            <a:ext cx="3658463" cy="2601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12283549-8A16-AE28-EA73-32F3FD6C9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6768" y="3320249"/>
            <a:ext cx="3658463" cy="2601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>
            <a:extLst>
              <a:ext uri="{FF2B5EF4-FFF2-40B4-BE49-F238E27FC236}">
                <a16:creationId xmlns:a16="http://schemas.microsoft.com/office/drawing/2014/main" id="{BCF84CE1-644A-2C8A-CFA7-C130F3F6FE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5141" y="3320249"/>
            <a:ext cx="3658463" cy="2601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5504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2BU1_Quadruple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-0.547 </a:t>
            </a:r>
          </a:p>
          <a:p>
            <a:r>
              <a:rPr lang="en-US" dirty="0"/>
              <a:t>Spearman rank correlation coefficient: -0.683 </a:t>
            </a:r>
          </a:p>
          <a:p>
            <a:r>
              <a:rPr lang="en-US" dirty="0"/>
              <a:t>Coefficient of Determination (R^2): 0.300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24F51CE-4CFA-F28D-8773-F0E86FC64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665" y="3429000"/>
            <a:ext cx="3733333" cy="2640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AF20DFF8-3317-1507-1BB8-FF7032EC76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5493" y="3429000"/>
            <a:ext cx="3733333" cy="2640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7FE5D301-EB40-6F83-BA78-A598B51CB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321" y="3429000"/>
            <a:ext cx="3733333" cy="2640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60564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1AQ3_Quadruple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0.063 </a:t>
            </a:r>
          </a:p>
          <a:p>
            <a:r>
              <a:rPr lang="en-US" dirty="0"/>
              <a:t>Spearman rank correlation coefficient: 0.074 </a:t>
            </a:r>
          </a:p>
          <a:p>
            <a:r>
              <a:rPr lang="en-US" dirty="0"/>
              <a:t>Coefficient of Determination (R^2): 0.004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96B6368-4EE1-2A98-631D-92818AE12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073" y="3312544"/>
            <a:ext cx="3465044" cy="245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CE576320-07CA-BFC1-E106-975FDE526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3478" y="3312544"/>
            <a:ext cx="3465044" cy="245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806DDFCF-D4A8-2D3B-73FC-EEEC52DD7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8883" y="3312544"/>
            <a:ext cx="3465044" cy="245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93447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1AQ3(AS)_Quadruple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-0.006 </a:t>
            </a:r>
          </a:p>
          <a:p>
            <a:r>
              <a:rPr lang="en-US" dirty="0"/>
              <a:t>Spearman rank correlation coefficient: 0.015 </a:t>
            </a:r>
          </a:p>
          <a:p>
            <a:r>
              <a:rPr lang="en-US" dirty="0"/>
              <a:t>Coefficient of Determination (R^2): 0.000</a:t>
            </a: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BE002287-71D9-38E8-2A0C-DA777538D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512" y="3529178"/>
            <a:ext cx="3514300" cy="2448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>
            <a:extLst>
              <a:ext uri="{FF2B5EF4-FFF2-40B4-BE49-F238E27FC236}">
                <a16:creationId xmlns:a16="http://schemas.microsoft.com/office/drawing/2014/main" id="{973BF1F2-B0A5-C39A-17BB-496B4D69C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8850" y="3529178"/>
            <a:ext cx="3514300" cy="2448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2" name="Picture 6">
            <a:extLst>
              <a:ext uri="{FF2B5EF4-FFF2-40B4-BE49-F238E27FC236}">
                <a16:creationId xmlns:a16="http://schemas.microsoft.com/office/drawing/2014/main" id="{6F440612-6B61-0515-E994-99A190F072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7423" y="3529178"/>
            <a:ext cx="3514300" cy="2448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4256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2BU1+1AQ3_Quadruple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-0.301 </a:t>
            </a:r>
          </a:p>
          <a:p>
            <a:r>
              <a:rPr lang="en-US" dirty="0"/>
              <a:t>Spearman rank correlation coefficient: -0.463 </a:t>
            </a:r>
          </a:p>
          <a:p>
            <a:r>
              <a:rPr lang="en-US" dirty="0"/>
              <a:t>Coefficient of Determination (R^2): 0.090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406E3F89-3D51-714B-FF25-5D19546754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061" y="3429000"/>
            <a:ext cx="3666683" cy="2593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CACB5FD0-2DB3-75A4-E1E9-112B0A6CF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2658" y="3429000"/>
            <a:ext cx="3666683" cy="2593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>
            <a:extLst>
              <a:ext uri="{FF2B5EF4-FFF2-40B4-BE49-F238E27FC236}">
                <a16:creationId xmlns:a16="http://schemas.microsoft.com/office/drawing/2014/main" id="{6AF65280-CE99-F7DB-6CE8-8CFAD68A12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56" y="3429000"/>
            <a:ext cx="3666683" cy="2593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76912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2BU1_Quintuple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-0.829 </a:t>
            </a:r>
          </a:p>
          <a:p>
            <a:r>
              <a:rPr lang="en-US" dirty="0"/>
              <a:t>Spearman rank correlation coefficient: -0.738 </a:t>
            </a:r>
          </a:p>
          <a:p>
            <a:r>
              <a:rPr lang="en-US" dirty="0"/>
              <a:t>Coefficient of Determination (R^2): 0.687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C55CEF8-1A24-6485-8CFE-B3D192A62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822" y="3429000"/>
            <a:ext cx="3804920" cy="2705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521454F7-1595-FB76-4F98-74EF384FA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3540" y="3429000"/>
            <a:ext cx="3804919" cy="2705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FBC26BC3-3AF3-0FBD-D3EA-AF4E82D23D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259" y="3429000"/>
            <a:ext cx="3804919" cy="2705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49796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1AQ3_Quintuple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-0.205 </a:t>
            </a:r>
          </a:p>
          <a:p>
            <a:r>
              <a:rPr lang="en-US" dirty="0"/>
              <a:t>Spearman rank correlation coefficient: -0.077 </a:t>
            </a:r>
          </a:p>
          <a:p>
            <a:r>
              <a:rPr lang="en-US" dirty="0"/>
              <a:t>Coefficient of Determination (R^2): 0.042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A1BDCF4-33C0-0F60-B341-64F8B7B0A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781" y="3429000"/>
            <a:ext cx="3550726" cy="2524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8E779D71-E7B3-29FD-1BFB-045C5A8AB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637" y="3428997"/>
            <a:ext cx="3550726" cy="2524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682F1343-9F17-7DA7-DF9D-5FEDF79A7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3374" y="3428998"/>
            <a:ext cx="3550726" cy="2524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9011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1AQ3(AS)_Quintuple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0.547 </a:t>
            </a:r>
          </a:p>
          <a:p>
            <a:r>
              <a:rPr lang="en-US" dirty="0"/>
              <a:t>Spearman rank correlation coefficient: 0.513 </a:t>
            </a:r>
          </a:p>
          <a:p>
            <a:r>
              <a:rPr lang="en-US" dirty="0"/>
              <a:t>Coefficient of Determination (R^2): 0.300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07E761D4-4B9A-7402-55A0-AD209346C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794" y="3512142"/>
            <a:ext cx="3498610" cy="244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>
            <a:extLst>
              <a:ext uri="{FF2B5EF4-FFF2-40B4-BE49-F238E27FC236}">
                <a16:creationId xmlns:a16="http://schemas.microsoft.com/office/drawing/2014/main" id="{B11B7985-2ADF-DA8A-753F-E8B4D48BA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6695" y="3512142"/>
            <a:ext cx="3498610" cy="244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>
            <a:extLst>
              <a:ext uri="{FF2B5EF4-FFF2-40B4-BE49-F238E27FC236}">
                <a16:creationId xmlns:a16="http://schemas.microsoft.com/office/drawing/2014/main" id="{463A1213-D604-35AE-3DC5-BD868C473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6596" y="3512142"/>
            <a:ext cx="3498610" cy="244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3494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2BU1+1AQ3_Quintuple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-0.743 </a:t>
            </a:r>
          </a:p>
          <a:p>
            <a:r>
              <a:rPr lang="en-US" dirty="0"/>
              <a:t>Spearman rank correlation coefficient: -0.777 </a:t>
            </a:r>
          </a:p>
          <a:p>
            <a:r>
              <a:rPr lang="en-US" dirty="0"/>
              <a:t>Coefficient of Determination (R^2): 0.552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15FDEF14-DEC2-0599-9591-88A0CB69B0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627" y="3429000"/>
            <a:ext cx="3827906" cy="2721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>
            <a:extLst>
              <a:ext uri="{FF2B5EF4-FFF2-40B4-BE49-F238E27FC236}">
                <a16:creationId xmlns:a16="http://schemas.microsoft.com/office/drawing/2014/main" id="{BD9272A8-3735-53FC-87A6-B8D5B8DF1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2047" y="3428999"/>
            <a:ext cx="3827906" cy="2721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>
            <a:extLst>
              <a:ext uri="{FF2B5EF4-FFF2-40B4-BE49-F238E27FC236}">
                <a16:creationId xmlns:a16="http://schemas.microsoft.com/office/drawing/2014/main" id="{70A53AA5-FA86-70FE-4878-658E3AA11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3470" y="3428999"/>
            <a:ext cx="3827906" cy="2721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3257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2228</TotalTime>
  <Words>621</Words>
  <Application>Microsoft Macintosh PowerPoint</Application>
  <PresentationFormat>Widescreen</PresentationFormat>
  <Paragraphs>85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Mutation Graphs</vt:lpstr>
      <vt:lpstr>1-3 Mutations – PHI 9.5</vt:lpstr>
      <vt:lpstr>2BU1_Single Mutation – PHI 9.5</vt:lpstr>
      <vt:lpstr>1AQ3_Single Mutation – PHI 9.5</vt:lpstr>
      <vt:lpstr>1AQ3(AS)_Single Mutation – PHI 9.5</vt:lpstr>
      <vt:lpstr>2BU1+1AQ3_Single Mutation – PHI 9.5</vt:lpstr>
      <vt:lpstr>2BU1_Double Mutation – PHI 9.5</vt:lpstr>
      <vt:lpstr>1AQ3_Double Mutation – PHI 9.5</vt:lpstr>
      <vt:lpstr>1AQ3(AS)_Double Mutation – PHI 9.5</vt:lpstr>
      <vt:lpstr>2BU1+1AQ3_Double Mutation – PHI 9.5</vt:lpstr>
      <vt:lpstr>2BU1_Triple Mutation – PHI 9.5</vt:lpstr>
      <vt:lpstr>1AQ3_Triple Mutation – PHI 9.5</vt:lpstr>
      <vt:lpstr>1AQ3(AS)_Triple Mutation – PHI 9.5</vt:lpstr>
      <vt:lpstr>2BU1+1AQ3_Triple Mutation – PHI 9.5</vt:lpstr>
      <vt:lpstr>2BU1_Quadruple Mutation – PHI 9.5</vt:lpstr>
      <vt:lpstr>1AQ3_Quadruple Mutation – PHI 9.5</vt:lpstr>
      <vt:lpstr>1AQ3(AS)_Quadruple Mutation – PHI 9.5</vt:lpstr>
      <vt:lpstr>2BU1+1AQ3_Quadruple Mutation – PHI 9.5</vt:lpstr>
      <vt:lpstr>2BU1_Quintuple Mutation – PHI 9.5</vt:lpstr>
      <vt:lpstr>1AQ3_Quintuple Mutation – PHI 9.5</vt:lpstr>
      <vt:lpstr>1AQ3(AS)_Quintuple Mutation – PHI 9.5</vt:lpstr>
      <vt:lpstr>2BU1+1AQ3_Quintuple Mutation – PHI 9.5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Mutation Graphs</dc:title>
  <dc:creator>Eduardo Cisneros</dc:creator>
  <cp:lastModifiedBy>Eduardo Cisneros</cp:lastModifiedBy>
  <cp:revision>4</cp:revision>
  <dcterms:created xsi:type="dcterms:W3CDTF">2024-04-30T06:04:32Z</dcterms:created>
  <dcterms:modified xsi:type="dcterms:W3CDTF">2024-05-17T17:59:22Z</dcterms:modified>
</cp:coreProperties>
</file>