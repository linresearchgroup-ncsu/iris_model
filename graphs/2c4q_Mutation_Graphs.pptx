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3"/>
  </p:notesMasterIdLst>
  <p:sldIdLst>
    <p:sldId id="256" r:id="rId2"/>
    <p:sldId id="281" r:id="rId3"/>
    <p:sldId id="280" r:id="rId4"/>
    <p:sldId id="285" r:id="rId5"/>
    <p:sldId id="283" r:id="rId6"/>
    <p:sldId id="284" r:id="rId7"/>
    <p:sldId id="287" r:id="rId8"/>
    <p:sldId id="286" r:id="rId9"/>
    <p:sldId id="290" r:id="rId10"/>
    <p:sldId id="288" r:id="rId11"/>
    <p:sldId id="289" r:id="rId1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8401"/>
    <p:restoredTop sz="94779"/>
  </p:normalViewPr>
  <p:slideViewPr>
    <p:cSldViewPr snapToGrid="0">
      <p:cViewPr varScale="1">
        <p:scale>
          <a:sx n="211" d="100"/>
          <a:sy n="211" d="100"/>
        </p:scale>
        <p:origin x="1632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623281A-8D51-F24D-A44D-801F90768EA0}" type="datetimeFigureOut">
              <a:rPr lang="en-US" smtClean="0"/>
              <a:t>7/9/24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E56A5B0-A2AA-0E4F-BF3A-A5C158D54A1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4144336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E56A5B0-A2AA-0E4F-BF3A-A5C158D54A12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3764884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E56A5B0-A2AA-0E4F-BF3A-A5C158D54A12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3672986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E56A5B0-A2AA-0E4F-BF3A-A5C158D54A12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968671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E56A5B0-A2AA-0E4F-BF3A-A5C158D54A12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0054629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CB8F3D-E3A1-C4C5-9659-4CD199FA66F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8977C86-7188-FF95-3EBE-39934757F70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4BF40E2-EAFF-7887-C94A-595CAB7613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F24598-E0FC-E241-BAA2-BE1A2687DE9E}" type="datetimeFigureOut">
              <a:rPr lang="en-US" smtClean="0"/>
              <a:t>7/9/24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DB3FEA3-3644-F61B-8F9D-DC5F539685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E1CC71A-AD01-5714-31A0-48DB16D605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1F3224-5DE7-F14A-84D5-1F862C87357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506698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262579-AA63-790D-E7D3-2AAC2B9A09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05A0205-8C30-B889-C848-EDB67C542C5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5642477-06CB-4336-59A0-75B9F28CA9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F24598-E0FC-E241-BAA2-BE1A2687DE9E}" type="datetimeFigureOut">
              <a:rPr lang="en-US" smtClean="0"/>
              <a:t>7/9/24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0E1340B-E882-E832-2431-352C985C69D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C7A8658-73A7-54F1-4630-A7C8F2A286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1F3224-5DE7-F14A-84D5-1F862C87357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542878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6DC070-6A4C-7504-BDC8-14A5093FAD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C2C1B66-97F4-24C8-873C-40CE1EF373B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10377C5-3FD1-18E8-84A6-C31E9749B2D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F24598-E0FC-E241-BAA2-BE1A2687DE9E}" type="datetimeFigureOut">
              <a:rPr lang="en-US" smtClean="0"/>
              <a:t>7/9/24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4CD231B-3CC9-3544-BD5F-C7A0528CDDD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BAF470A-56FC-45E0-2AE0-7AB489D9DD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1F3224-5DE7-F14A-84D5-1F862C87357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7960330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3DFA0B-0AF4-5F92-5DD1-5FC05E88EC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F4AF0B3-98CF-9DAF-EA19-197919F0E2F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E9215D9-C778-7C4B-10E1-DEEE0D224D7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6C7F988-AC8B-72F8-7570-32B061B90E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F24598-E0FC-E241-BAA2-BE1A2687DE9E}" type="datetimeFigureOut">
              <a:rPr lang="en-US" smtClean="0"/>
              <a:t>7/9/24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7A04901-815E-F6FC-2936-FCE15AC1A8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40D83EE-2F28-5BE1-576B-6EEDC99E03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1F3224-5DE7-F14A-84D5-1F862C87357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8651744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F61126-EC0C-58F7-1242-A7CD47AA6C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CAB837B-36D0-05E0-1D18-2CC4A3F8DB5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A2C7B88-FDC1-5F36-8176-983F232AB49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F0014B1-3F46-7BE2-BE7A-FD9A1CF5DD7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AFB8527-884C-747D-4516-0BCC9C9F41E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699ED19-66FF-EEEA-4A25-66EA34A4455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F24598-E0FC-E241-BAA2-BE1A2687DE9E}" type="datetimeFigureOut">
              <a:rPr lang="en-US" smtClean="0"/>
              <a:t>7/9/24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49799AC-B7DF-F1EE-5901-0482AD271C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7D6BA36-C399-231F-D560-F90EFEDF6F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1F3224-5DE7-F14A-84D5-1F862C87357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0568203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AD47C68-B6FE-33B9-C6D8-C059547A1A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8F68376-074C-79FC-3718-2DA6539D6C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F24598-E0FC-E241-BAA2-BE1A2687DE9E}" type="datetimeFigureOut">
              <a:rPr lang="en-US" smtClean="0"/>
              <a:t>7/9/24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7E6E093-6F54-0829-2E4B-9EEED2208B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57A02B9-6EB0-B7F2-2FF0-F861350AF4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1F3224-5DE7-F14A-84D5-1F862C87357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2720691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1F57442F-CEAB-3221-4582-456F8BAE79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F24598-E0FC-E241-BAA2-BE1A2687DE9E}" type="datetimeFigureOut">
              <a:rPr lang="en-US" smtClean="0"/>
              <a:t>7/9/24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E1C62BA8-BC7C-62A0-ED96-594761BA00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7C398F7-DB8F-A203-337C-F463039983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1F3224-5DE7-F14A-84D5-1F862C87357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8904372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8B52CE-505E-1AFB-82A3-A34E766A7A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898F571-59D5-8262-5E89-FFC784FAF75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F936BB3-7B51-B20C-91F8-5A57C1B155A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D545AE3-8EA2-6705-D2DA-D005DA6662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F24598-E0FC-E241-BAA2-BE1A2687DE9E}" type="datetimeFigureOut">
              <a:rPr lang="en-US" smtClean="0"/>
              <a:t>7/9/24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664C6AC-1389-4D68-A749-E288C8FBCB8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E7E0B92-027E-5A6B-54B6-997A58B6D4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1F3224-5DE7-F14A-84D5-1F862C87357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95721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A78308-E2BA-E22A-4D05-D0D2956D8A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ACDDC56F-F9E7-A2C7-1F02-2ED1A8BA23D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1183506-1FBD-A578-F4C0-756103663B4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EDCA73A-55BA-13E8-E16A-07AB258F844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F24598-E0FC-E241-BAA2-BE1A2687DE9E}" type="datetimeFigureOut">
              <a:rPr lang="en-US" smtClean="0"/>
              <a:t>7/9/24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91D31AA-C146-9B1D-0A6B-225DC27FAFF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381DF61-1860-079C-AE94-E22F06DF1F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1F3224-5DE7-F14A-84D5-1F862C87357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7966674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426754-07F6-7CFC-59B5-9F48E67EC5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B8054C8-0369-177F-0260-6D98609B839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645D84C-D09E-82E2-06ED-C5892D8BDC6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F24598-E0FC-E241-BAA2-BE1A2687DE9E}" type="datetimeFigureOut">
              <a:rPr lang="en-US" smtClean="0"/>
              <a:t>7/9/24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861F40D-A21F-C11B-939C-71C8A04EB2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BE10C2D-909D-B1FA-44AB-3E8DD0A4D2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1F3224-5DE7-F14A-84D5-1F862C87357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982422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5717951-B2FA-A353-EAF5-664C536D141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A97FB23-2DF5-6DDA-7402-3D89AAD3D25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5901967-BB3D-5E64-B865-DD8C10A5DA7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F24598-E0FC-E241-BAA2-BE1A2687DE9E}" type="datetimeFigureOut">
              <a:rPr lang="en-US" smtClean="0"/>
              <a:t>7/9/24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5F0C182-C38A-B69A-A27A-73CBCAA741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94102FB-FB3A-C20D-951E-116434102B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1F3224-5DE7-F14A-84D5-1F862C87357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1282812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6AD012C-4C06-7A61-0BBB-6B44521E14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C82E2CD-6FD1-C920-5125-3593587091B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D78D8D0-09D6-B38C-1D5B-B468AB9347B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9F24598-E0FC-E241-BAA2-BE1A2687DE9E}" type="datetimeFigureOut">
              <a:rPr lang="en-US" smtClean="0"/>
              <a:t>7/9/24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8637CD8-336E-1A1F-5E5B-807D7802140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695EE0C-56A8-F005-A100-E9E58FA5F54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11F3224-5DE7-F14A-84D5-1F862C87357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2266715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2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5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8.png"/><Relationship Id="rId4" Type="http://schemas.openxmlformats.org/officeDocument/2006/relationships/image" Target="../media/image17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1.png"/><Relationship Id="rId4" Type="http://schemas.openxmlformats.org/officeDocument/2006/relationships/image" Target="../media/image20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24.png"/><Relationship Id="rId3" Type="http://schemas.openxmlformats.org/officeDocument/2006/relationships/image" Target="../media/image19.png"/><Relationship Id="rId7" Type="http://schemas.openxmlformats.org/officeDocument/2006/relationships/image" Target="../media/image2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2.png"/><Relationship Id="rId5" Type="http://schemas.openxmlformats.org/officeDocument/2006/relationships/image" Target="../media/image21.png"/><Relationship Id="rId4" Type="http://schemas.openxmlformats.org/officeDocument/2006/relationships/image" Target="../media/image20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7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7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7DA7F1-AA06-D470-5620-D21ECC7B514A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2c4q – RNA Complex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3F26B89-6436-22DE-6CAB-A420AB507087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2432238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DAB852-1ACC-74C7-6228-9D23450376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2c4q Phi &amp; Gamma Graphs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105CE69-AD9E-B41F-3C2D-429C7D534E7E}"/>
              </a:ext>
            </a:extLst>
          </p:cNvPr>
          <p:cNvSpPr txBox="1"/>
          <p:nvPr/>
        </p:nvSpPr>
        <p:spPr>
          <a:xfrm>
            <a:off x="766913" y="2274516"/>
            <a:ext cx="253922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Gamma Randomization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4EB601B-F26A-FA8B-BB61-73D43C5F55B0}"/>
              </a:ext>
            </a:extLst>
          </p:cNvPr>
          <p:cNvSpPr txBox="1"/>
          <p:nvPr/>
        </p:nvSpPr>
        <p:spPr>
          <a:xfrm>
            <a:off x="5424726" y="2274516"/>
            <a:ext cx="134254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Phis Native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2439339-BB0C-1909-D306-569CB9330556}"/>
              </a:ext>
            </a:extLst>
          </p:cNvPr>
          <p:cNvSpPr txBox="1"/>
          <p:nvPr/>
        </p:nvSpPr>
        <p:spPr>
          <a:xfrm>
            <a:off x="9511231" y="2274516"/>
            <a:ext cx="1288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Phis Decoy</a:t>
            </a: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828BA61C-0A76-09BF-A1E1-AAFE0659454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-27439" y="2909127"/>
            <a:ext cx="4127927" cy="342215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>
            <a:extLst>
              <a:ext uri="{FF2B5EF4-FFF2-40B4-BE49-F238E27FC236}">
                <a16:creationId xmlns:a16="http://schemas.microsoft.com/office/drawing/2014/main" id="{0F67F769-A994-E5C4-EE76-1994B88EC7F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032036" y="2909128"/>
            <a:ext cx="4127928" cy="342215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>
            <a:extLst>
              <a:ext uri="{FF2B5EF4-FFF2-40B4-BE49-F238E27FC236}">
                <a16:creationId xmlns:a16="http://schemas.microsoft.com/office/drawing/2014/main" id="{78FA1D81-9BA2-67EE-7A73-533E75CA78F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091514" y="2909127"/>
            <a:ext cx="4127928" cy="342215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58495962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877E3B-C8DE-F07E-AF0F-4CF353351B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(</a:t>
            </a:r>
            <a:r>
              <a:rPr lang="en-US" dirty="0" err="1"/>
              <a:t>half_AA_seq</a:t>
            </a:r>
            <a:r>
              <a:rPr lang="en-US" dirty="0"/>
              <a:t>)2c4q_Single Mutation – PHI 9.5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28302CB-C012-00EF-0450-25C9128C2913}"/>
              </a:ext>
            </a:extLst>
          </p:cNvPr>
          <p:cNvSpPr txBox="1"/>
          <p:nvPr/>
        </p:nvSpPr>
        <p:spPr>
          <a:xfrm>
            <a:off x="838200" y="1757723"/>
            <a:ext cx="6094990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Pearson rank correlation coefficient: 0.285 </a:t>
            </a:r>
          </a:p>
          <a:p>
            <a:r>
              <a:rPr lang="en-US" dirty="0"/>
              <a:t>Spearman rank correlation coefficient: 0.362 </a:t>
            </a:r>
          </a:p>
          <a:p>
            <a:r>
              <a:rPr lang="en-US" dirty="0"/>
              <a:t>Coefficient of Determination (R^2): 0.081</a:t>
            </a:r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0246359F-629C-D318-DF83-3F43ADC1FE9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00557" y="3429000"/>
            <a:ext cx="3507636" cy="249392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2" name="Picture 4">
            <a:extLst>
              <a:ext uri="{FF2B5EF4-FFF2-40B4-BE49-F238E27FC236}">
                <a16:creationId xmlns:a16="http://schemas.microsoft.com/office/drawing/2014/main" id="{1BBF7101-1306-3543-D541-DD760798851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342182" y="3429000"/>
            <a:ext cx="3507636" cy="249392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4" name="Picture 6">
            <a:extLst>
              <a:ext uri="{FF2B5EF4-FFF2-40B4-BE49-F238E27FC236}">
                <a16:creationId xmlns:a16="http://schemas.microsoft.com/office/drawing/2014/main" id="{FE14B28F-A91B-4C52-F755-7AB73596A4C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183807" y="3429000"/>
            <a:ext cx="3507636" cy="249392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95364427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877E3B-C8DE-F07E-AF0F-4CF353351B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2c4q_Single Mutation – PHI 9.5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28302CB-C012-00EF-0450-25C9128C2913}"/>
              </a:ext>
            </a:extLst>
          </p:cNvPr>
          <p:cNvSpPr txBox="1"/>
          <p:nvPr/>
        </p:nvSpPr>
        <p:spPr>
          <a:xfrm>
            <a:off x="838200" y="1757723"/>
            <a:ext cx="6094990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Pearson rank correlation coefficient: 0.697 </a:t>
            </a:r>
          </a:p>
          <a:p>
            <a:r>
              <a:rPr lang="en-US" dirty="0"/>
              <a:t>Spearman rank correlation coefficient: 0.669 </a:t>
            </a:r>
          </a:p>
          <a:p>
            <a:r>
              <a:rPr lang="en-US" dirty="0"/>
              <a:t>Coefficient of Determination (R^2): 0.486</a:t>
            </a: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21F848E7-CFB4-2044-FCBB-AF88D24956F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22911" y="3341377"/>
            <a:ext cx="3726179" cy="264930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>
            <a:extLst>
              <a:ext uri="{FF2B5EF4-FFF2-40B4-BE49-F238E27FC236}">
                <a16:creationId xmlns:a16="http://schemas.microsoft.com/office/drawing/2014/main" id="{85BE724A-EC79-544F-6AC7-A7271CF914A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206241" y="3341377"/>
            <a:ext cx="3726179" cy="264930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>
            <a:extLst>
              <a:ext uri="{FF2B5EF4-FFF2-40B4-BE49-F238E27FC236}">
                <a16:creationId xmlns:a16="http://schemas.microsoft.com/office/drawing/2014/main" id="{C7941952-5264-AD1D-39B1-242931430CF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89571" y="3341376"/>
            <a:ext cx="3726178" cy="264930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3294152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877E3B-C8DE-F07E-AF0F-4CF353351B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2c4q_Double Mutation – PHI 9.5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28302CB-C012-00EF-0450-25C9128C2913}"/>
              </a:ext>
            </a:extLst>
          </p:cNvPr>
          <p:cNvSpPr txBox="1"/>
          <p:nvPr/>
        </p:nvSpPr>
        <p:spPr>
          <a:xfrm>
            <a:off x="838200" y="1757723"/>
            <a:ext cx="6094990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Pearson rank correlation coefficient: 0.556 </a:t>
            </a:r>
          </a:p>
          <a:p>
            <a:r>
              <a:rPr lang="en-US" dirty="0"/>
              <a:t>Spearman rank correlation coefficient: 0.545 </a:t>
            </a:r>
          </a:p>
          <a:p>
            <a:r>
              <a:rPr lang="en-US" dirty="0"/>
              <a:t>Coefficient of Determination (R^2): 0.309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0AFB8767-CDDF-ACDB-A7DD-D8FADA83122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8107" y="3429000"/>
            <a:ext cx="3976370" cy="282718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50C1F908-E258-A555-0AAA-AFBB16B18B2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112262" y="3429000"/>
            <a:ext cx="3976370" cy="282718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Picture 6">
            <a:extLst>
              <a:ext uri="{FF2B5EF4-FFF2-40B4-BE49-F238E27FC236}">
                <a16:creationId xmlns:a16="http://schemas.microsoft.com/office/drawing/2014/main" id="{04238E4A-4F0F-6104-88F5-FB1EC8B5417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097524" y="3429001"/>
            <a:ext cx="3976369" cy="282718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438915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877E3B-C8DE-F07E-AF0F-4CF353351B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2c4q_Triple Mutation – PHI 9.5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28302CB-C012-00EF-0450-25C9128C2913}"/>
              </a:ext>
            </a:extLst>
          </p:cNvPr>
          <p:cNvSpPr txBox="1"/>
          <p:nvPr/>
        </p:nvSpPr>
        <p:spPr>
          <a:xfrm>
            <a:off x="838200" y="1757723"/>
            <a:ext cx="6094990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Pearson rank correlation coefficient: 0.581 </a:t>
            </a:r>
          </a:p>
          <a:p>
            <a:r>
              <a:rPr lang="en-US" dirty="0"/>
              <a:t>Spearman rank correlation coefficient: 0.615 </a:t>
            </a:r>
          </a:p>
          <a:p>
            <a:r>
              <a:rPr lang="en-US" dirty="0"/>
              <a:t>Coefficient of Determination (R^2): 0.338</a:t>
            </a:r>
          </a:p>
        </p:txBody>
      </p:sp>
      <p:pic>
        <p:nvPicPr>
          <p:cNvPr id="3074" name="Picture 2">
            <a:extLst>
              <a:ext uri="{FF2B5EF4-FFF2-40B4-BE49-F238E27FC236}">
                <a16:creationId xmlns:a16="http://schemas.microsoft.com/office/drawing/2014/main" id="{6AF8847E-48FA-2DC2-1716-E98EC541B66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1635" y="3428999"/>
            <a:ext cx="3962910" cy="281761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76" name="Picture 4">
            <a:extLst>
              <a:ext uri="{FF2B5EF4-FFF2-40B4-BE49-F238E27FC236}">
                <a16:creationId xmlns:a16="http://schemas.microsoft.com/office/drawing/2014/main" id="{C7EA3BAD-8EA4-A0F4-3F47-8B6B424F8BC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114545" y="3429000"/>
            <a:ext cx="3962910" cy="281761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78" name="Picture 6">
            <a:extLst>
              <a:ext uri="{FF2B5EF4-FFF2-40B4-BE49-F238E27FC236}">
                <a16:creationId xmlns:a16="http://schemas.microsoft.com/office/drawing/2014/main" id="{DC0E546F-B422-61CB-71FA-1819522F6F4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077455" y="3428998"/>
            <a:ext cx="3962910" cy="281761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04415099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877E3B-C8DE-F07E-AF0F-4CF353351B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2c4q_Quadruple Mutation – PHI 9.5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28302CB-C012-00EF-0450-25C9128C2913}"/>
              </a:ext>
            </a:extLst>
          </p:cNvPr>
          <p:cNvSpPr txBox="1"/>
          <p:nvPr/>
        </p:nvSpPr>
        <p:spPr>
          <a:xfrm>
            <a:off x="838200" y="1757723"/>
            <a:ext cx="6094990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Pearson rank correlation coefficient: -0.478 </a:t>
            </a:r>
          </a:p>
          <a:p>
            <a:r>
              <a:rPr lang="en-US" dirty="0"/>
              <a:t>Spearman rank correlation coefficient: -0.607 </a:t>
            </a:r>
          </a:p>
          <a:p>
            <a:r>
              <a:rPr lang="en-US" dirty="0"/>
              <a:t>Coefficient of Determination (R^2): 0.228</a:t>
            </a:r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A00FDEC1-AC60-22AF-9EE5-D7009434FD0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5282" y="2966461"/>
            <a:ext cx="3838054" cy="271495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2" name="Picture 4">
            <a:extLst>
              <a:ext uri="{FF2B5EF4-FFF2-40B4-BE49-F238E27FC236}">
                <a16:creationId xmlns:a16="http://schemas.microsoft.com/office/drawing/2014/main" id="{53723BB6-C5D4-6E00-CAD6-88FEB6501D0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224614" y="2966461"/>
            <a:ext cx="3838054" cy="271495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4" name="Picture 6">
            <a:extLst>
              <a:ext uri="{FF2B5EF4-FFF2-40B4-BE49-F238E27FC236}">
                <a16:creationId xmlns:a16="http://schemas.microsoft.com/office/drawing/2014/main" id="{B648BFAF-7907-6B73-423B-FB7C63DF93C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53946" y="2966461"/>
            <a:ext cx="3838054" cy="271495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15121535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877E3B-C8DE-F07E-AF0F-4CF353351B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2c4q_AF_Quadruple Mutation – PHI 9.5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28302CB-C012-00EF-0450-25C9128C2913}"/>
              </a:ext>
            </a:extLst>
          </p:cNvPr>
          <p:cNvSpPr txBox="1"/>
          <p:nvPr/>
        </p:nvSpPr>
        <p:spPr>
          <a:xfrm>
            <a:off x="838200" y="1757723"/>
            <a:ext cx="6094990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Pearson rank correlation coefficient: -0.174 </a:t>
            </a:r>
          </a:p>
          <a:p>
            <a:r>
              <a:rPr lang="en-US" dirty="0"/>
              <a:t>Spearman rank correlation coefficient: 0.070 </a:t>
            </a:r>
          </a:p>
          <a:p>
            <a:r>
              <a:rPr lang="en-US" dirty="0"/>
              <a:t>Coefficient of Determination (R^2): 0.030</a:t>
            </a:r>
          </a:p>
        </p:txBody>
      </p:sp>
      <p:pic>
        <p:nvPicPr>
          <p:cNvPr id="1032" name="Picture 8">
            <a:extLst>
              <a:ext uri="{FF2B5EF4-FFF2-40B4-BE49-F238E27FC236}">
                <a16:creationId xmlns:a16="http://schemas.microsoft.com/office/drawing/2014/main" id="{906B0394-AB3E-2497-56D1-49B04943557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2859770"/>
            <a:ext cx="3919287" cy="277242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4" name="Picture 10">
            <a:extLst>
              <a:ext uri="{FF2B5EF4-FFF2-40B4-BE49-F238E27FC236}">
                <a16:creationId xmlns:a16="http://schemas.microsoft.com/office/drawing/2014/main" id="{082331DF-4202-5F18-CAA7-6E1398F3EC8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037096" y="2859771"/>
            <a:ext cx="3919287" cy="277242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6" name="Picture 12">
            <a:extLst>
              <a:ext uri="{FF2B5EF4-FFF2-40B4-BE49-F238E27FC236}">
                <a16:creationId xmlns:a16="http://schemas.microsoft.com/office/drawing/2014/main" id="{90BF985E-EF78-6D56-50C2-A454B407312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074192" y="2859771"/>
            <a:ext cx="3919287" cy="277242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90512259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877E3B-C8DE-F07E-AF0F-4CF353351B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200" dirty="0"/>
              <a:t>2c4q_AF_Quadruple Mutation – Remove Low Expected Energy</a:t>
            </a:r>
          </a:p>
        </p:txBody>
      </p:sp>
      <p:pic>
        <p:nvPicPr>
          <p:cNvPr id="1032" name="Picture 8">
            <a:extLst>
              <a:ext uri="{FF2B5EF4-FFF2-40B4-BE49-F238E27FC236}">
                <a16:creationId xmlns:a16="http://schemas.microsoft.com/office/drawing/2014/main" id="{906B0394-AB3E-2497-56D1-49B04943557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78623" y="1424241"/>
            <a:ext cx="3235869" cy="228898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4" name="Picture 10">
            <a:extLst>
              <a:ext uri="{FF2B5EF4-FFF2-40B4-BE49-F238E27FC236}">
                <a16:creationId xmlns:a16="http://schemas.microsoft.com/office/drawing/2014/main" id="{082331DF-4202-5F18-CAA7-6E1398F3EC8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361235" y="1424241"/>
            <a:ext cx="3235869" cy="228898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6" name="Picture 12">
            <a:extLst>
              <a:ext uri="{FF2B5EF4-FFF2-40B4-BE49-F238E27FC236}">
                <a16:creationId xmlns:a16="http://schemas.microsoft.com/office/drawing/2014/main" id="{90BF985E-EF78-6D56-50C2-A454B407312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16070" y="1424240"/>
            <a:ext cx="3235867" cy="228898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Oval 2">
            <a:extLst>
              <a:ext uri="{FF2B5EF4-FFF2-40B4-BE49-F238E27FC236}">
                <a16:creationId xmlns:a16="http://schemas.microsoft.com/office/drawing/2014/main" id="{4B7237FE-8CED-CC24-14C1-532B11DB9EDB}"/>
              </a:ext>
            </a:extLst>
          </p:cNvPr>
          <p:cNvSpPr/>
          <p:nvPr/>
        </p:nvSpPr>
        <p:spPr>
          <a:xfrm>
            <a:off x="989592" y="1802963"/>
            <a:ext cx="603398" cy="1264802"/>
          </a:xfrm>
          <a:prstGeom prst="ellipse">
            <a:avLst/>
          </a:prstGeom>
          <a:noFill/>
          <a:ln w="571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n>
                <a:solidFill>
                  <a:srgbClr val="FF0000"/>
                </a:solidFill>
              </a:ln>
              <a:noFill/>
            </a:endParaRP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5451760D-6383-AC9E-F452-0FF7047F3BB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07370" y="4273122"/>
            <a:ext cx="3219399" cy="228898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Oval 6">
            <a:extLst>
              <a:ext uri="{FF2B5EF4-FFF2-40B4-BE49-F238E27FC236}">
                <a16:creationId xmlns:a16="http://schemas.microsoft.com/office/drawing/2014/main" id="{4004D990-01E0-16EB-37C5-85CE7867C5DD}"/>
              </a:ext>
            </a:extLst>
          </p:cNvPr>
          <p:cNvSpPr/>
          <p:nvPr/>
        </p:nvSpPr>
        <p:spPr>
          <a:xfrm>
            <a:off x="4751147" y="1883645"/>
            <a:ext cx="603398" cy="1264802"/>
          </a:xfrm>
          <a:prstGeom prst="ellipse">
            <a:avLst/>
          </a:prstGeom>
          <a:noFill/>
          <a:ln w="571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n>
                <a:solidFill>
                  <a:srgbClr val="FF0000"/>
                </a:solidFill>
              </a:ln>
              <a:noFill/>
            </a:endParaRPr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33E6E0B1-BEBE-924B-44A4-8932B2ECC5E0}"/>
              </a:ext>
            </a:extLst>
          </p:cNvPr>
          <p:cNvSpPr/>
          <p:nvPr/>
        </p:nvSpPr>
        <p:spPr>
          <a:xfrm>
            <a:off x="8705473" y="1920948"/>
            <a:ext cx="603398" cy="1264802"/>
          </a:xfrm>
          <a:prstGeom prst="ellipse">
            <a:avLst/>
          </a:prstGeom>
          <a:noFill/>
          <a:ln w="571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n>
                <a:solidFill>
                  <a:srgbClr val="FF0000"/>
                </a:solidFill>
              </a:ln>
              <a:noFill/>
            </a:endParaRPr>
          </a:p>
        </p:txBody>
      </p:sp>
      <p:pic>
        <p:nvPicPr>
          <p:cNvPr id="1028" name="Picture 4">
            <a:extLst>
              <a:ext uri="{FF2B5EF4-FFF2-40B4-BE49-F238E27FC236}">
                <a16:creationId xmlns:a16="http://schemas.microsoft.com/office/drawing/2014/main" id="{7C26B57E-9261-33EE-A2C5-964A2D710C5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189982" y="4273124"/>
            <a:ext cx="3219399" cy="228898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>
            <a:extLst>
              <a:ext uri="{FF2B5EF4-FFF2-40B4-BE49-F238E27FC236}">
                <a16:creationId xmlns:a16="http://schemas.microsoft.com/office/drawing/2014/main" id="{EF2503DF-0233-36B6-0E61-82393A69C70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162980" y="4273124"/>
            <a:ext cx="3219399" cy="228898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DE6502AA-9DA3-FBD1-5E9A-C1BA704E5BF4}"/>
              </a:ext>
            </a:extLst>
          </p:cNvPr>
          <p:cNvSpPr txBox="1"/>
          <p:nvPr/>
        </p:nvSpPr>
        <p:spPr>
          <a:xfrm>
            <a:off x="717616" y="3882067"/>
            <a:ext cx="1016412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Pearson rank correlation coefficient: 0.210 Spearman rank correlation coefficient: 0.288 Coefficient of Determination (R^2): 0.044</a:t>
            </a:r>
          </a:p>
        </p:txBody>
      </p:sp>
    </p:spTree>
    <p:extLst>
      <p:ext uri="{BB962C8B-B14F-4D97-AF65-F5344CB8AC3E}">
        <p14:creationId xmlns:p14="http://schemas.microsoft.com/office/powerpoint/2010/main" val="114905732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2C9A3D-9D08-15A8-8FAE-79FC709F62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66-CCAUAAGGCACACCCAUGU - Testing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1EF7D25-501D-2B09-12B1-AC07CE82EB1B}"/>
              </a:ext>
            </a:extLst>
          </p:cNvPr>
          <p:cNvSpPr txBox="1"/>
          <p:nvPr/>
        </p:nvSpPr>
        <p:spPr>
          <a:xfrm>
            <a:off x="838200" y="1757723"/>
            <a:ext cx="6094990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Pearson rank correlation coefficient: 0.000 </a:t>
            </a:r>
          </a:p>
          <a:p>
            <a:r>
              <a:rPr lang="en-US" dirty="0"/>
              <a:t>Spearman rank correlation coefficient: 0.028 </a:t>
            </a:r>
          </a:p>
          <a:p>
            <a:r>
              <a:rPr lang="en-US" dirty="0"/>
              <a:t>Coefficient of Determination (R^2): 0.000</a:t>
            </a: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1166147D-397B-A09B-CBB6-536E735FFF5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1701" y="3646165"/>
            <a:ext cx="3962866" cy="284671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>
            <a:extLst>
              <a:ext uri="{FF2B5EF4-FFF2-40B4-BE49-F238E27FC236}">
                <a16:creationId xmlns:a16="http://schemas.microsoft.com/office/drawing/2014/main" id="{6B1ACB9A-93DE-709B-DBED-13C1CD040C3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114567" y="3646165"/>
            <a:ext cx="3962866" cy="284671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>
            <a:extLst>
              <a:ext uri="{FF2B5EF4-FFF2-40B4-BE49-F238E27FC236}">
                <a16:creationId xmlns:a16="http://schemas.microsoft.com/office/drawing/2014/main" id="{F589F46B-FA36-7876-9312-06F553D48E9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077433" y="3646165"/>
            <a:ext cx="3962866" cy="284671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76804705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2C9A3D-9D08-15A8-8FAE-79FC709F62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77-ACCUGAAAAUAACCCAUGU - Testing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1EF7D25-501D-2B09-12B1-AC07CE82EB1B}"/>
              </a:ext>
            </a:extLst>
          </p:cNvPr>
          <p:cNvSpPr txBox="1"/>
          <p:nvPr/>
        </p:nvSpPr>
        <p:spPr>
          <a:xfrm>
            <a:off x="838200" y="1757723"/>
            <a:ext cx="6094990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Pearson rank correlation coefficient: 0.000 </a:t>
            </a:r>
          </a:p>
          <a:p>
            <a:r>
              <a:rPr lang="en-US" dirty="0"/>
              <a:t>Spearman rank correlation coefficient: 0.028 </a:t>
            </a:r>
          </a:p>
          <a:p>
            <a:r>
              <a:rPr lang="en-US" dirty="0"/>
              <a:t>Coefficient of Determination (R^2): 0.000</a:t>
            </a:r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35D7C4AB-B715-369D-DDFC-DBDB5E614A0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7937" y="3931068"/>
            <a:ext cx="3717758" cy="267063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2" name="Picture 4">
            <a:extLst>
              <a:ext uri="{FF2B5EF4-FFF2-40B4-BE49-F238E27FC236}">
                <a16:creationId xmlns:a16="http://schemas.microsoft.com/office/drawing/2014/main" id="{F2957D9B-9D92-67FD-C3A5-859E5DDC088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237121" y="3931069"/>
            <a:ext cx="3717758" cy="267063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4" name="Picture 6">
            <a:extLst>
              <a:ext uri="{FF2B5EF4-FFF2-40B4-BE49-F238E27FC236}">
                <a16:creationId xmlns:a16="http://schemas.microsoft.com/office/drawing/2014/main" id="{82AF10F0-8F30-3BD4-8278-A9E104B5B32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228597" y="3931067"/>
            <a:ext cx="3717758" cy="267063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23645365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29727</TotalTime>
  <Words>279</Words>
  <Application>Microsoft Macintosh PowerPoint</Application>
  <PresentationFormat>Widescreen</PresentationFormat>
  <Paragraphs>43</Paragraphs>
  <Slides>11</Slides>
  <Notes>4</Notes>
  <HiddenSlides>3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5" baseType="lpstr">
      <vt:lpstr>Aptos</vt:lpstr>
      <vt:lpstr>Aptos Display</vt:lpstr>
      <vt:lpstr>Arial</vt:lpstr>
      <vt:lpstr>Office Theme</vt:lpstr>
      <vt:lpstr>2c4q – RNA Complex</vt:lpstr>
      <vt:lpstr>2c4q Phi &amp; Gamma Graphs</vt:lpstr>
      <vt:lpstr>(half_AA_seq)2c4q_Single Mutation – PHI 9.5</vt:lpstr>
      <vt:lpstr>2c4q_Single Mutation – PHI 9.5</vt:lpstr>
      <vt:lpstr>2c4q_Double Mutation – PHI 9.5</vt:lpstr>
      <vt:lpstr>2c4q_Triple Mutation – PHI 9.5</vt:lpstr>
      <vt:lpstr>2c4q_Quadruple Mutation – PHI 9.5</vt:lpstr>
      <vt:lpstr>2c4q_AF_Quadruple Mutation – PHI 9.5</vt:lpstr>
      <vt:lpstr>2c4q_AF_Quadruple Mutation – Remove Low Expected Energy</vt:lpstr>
      <vt:lpstr>66-CCAUAAGGCACACCCAUGU - Testing</vt:lpstr>
      <vt:lpstr>77-ACCUGAAAAUAACCCAUGU - Testing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2c4q – RNA Complex</dc:title>
  <dc:creator>Eduardo Cisneros</dc:creator>
  <cp:lastModifiedBy>Eduardo Cisneros</cp:lastModifiedBy>
  <cp:revision>13</cp:revision>
  <dcterms:created xsi:type="dcterms:W3CDTF">2024-05-28T17:18:23Z</dcterms:created>
  <dcterms:modified xsi:type="dcterms:W3CDTF">2024-07-09T22:00:29Z</dcterms:modified>
</cp:coreProperties>
</file>